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65" r:id="rId5"/>
    <p:sldId id="261" r:id="rId6"/>
    <p:sldId id="263" r:id="rId7"/>
    <p:sldId id="264" r:id="rId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652D523-1401-7243-8870-6FBF28D5476B}" v="1" dt="2026-03-18T02:02:12.79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523"/>
    <p:restoredTop sz="94610"/>
  </p:normalViewPr>
  <p:slideViewPr>
    <p:cSldViewPr snapToGrid="0" snapToObjects="1">
      <p:cViewPr>
        <p:scale>
          <a:sx n="150" d="100"/>
          <a:sy n="150" d="100"/>
        </p:scale>
        <p:origin x="2028" y="11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5/10/relationships/revisionInfo" Target="revisionInfo.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600597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A2E"/>
        </a:solidFill>
        <a:effectLst/>
      </p:bgPr>
    </p:bg>
    <p:spTree>
      <p:nvGrpSpPr>
        <p:cNvPr id="1" name=""/>
        <p:cNvGrpSpPr/>
        <p:nvPr/>
      </p:nvGrpSpPr>
      <p:grpSpPr>
        <a:xfrm>
          <a:off x="0" y="0"/>
          <a:ext cx="0" cy="0"/>
          <a:chOff x="0" y="0"/>
          <a:chExt cx="0" cy="0"/>
        </a:xfrm>
      </p:grpSpPr>
      <p:sp>
        <p:nvSpPr>
          <p:cNvPr id="2" name="Shape 0"/>
          <p:cNvSpPr/>
          <p:nvPr/>
        </p:nvSpPr>
        <p:spPr>
          <a:xfrm>
            <a:off x="0" y="0"/>
            <a:ext cx="137160" cy="5143500"/>
          </a:xfrm>
          <a:prstGeom prst="rect">
            <a:avLst/>
          </a:prstGeom>
          <a:solidFill>
            <a:srgbClr val="3B82F6"/>
          </a:solidFill>
          <a:ln/>
        </p:spPr>
        <p:txBody>
          <a:bodyPr/>
          <a:lstStyle/>
          <a:p>
            <a:endParaRPr lang="en-US"/>
          </a:p>
        </p:txBody>
      </p:sp>
      <p:sp>
        <p:nvSpPr>
          <p:cNvPr id="3" name="Shape 1"/>
          <p:cNvSpPr/>
          <p:nvPr/>
        </p:nvSpPr>
        <p:spPr>
          <a:xfrm>
            <a:off x="137160" y="4389120"/>
            <a:ext cx="9144000" cy="36576"/>
          </a:xfrm>
          <a:prstGeom prst="rect">
            <a:avLst/>
          </a:prstGeom>
          <a:solidFill>
            <a:srgbClr val="3B82F6">
              <a:alpha val="60000"/>
            </a:srgbClr>
          </a:solidFill>
          <a:ln/>
        </p:spPr>
        <p:txBody>
          <a:bodyPr/>
          <a:lstStyle/>
          <a:p>
            <a:endParaRPr lang="en-US"/>
          </a:p>
        </p:txBody>
      </p:sp>
      <p:sp>
        <p:nvSpPr>
          <p:cNvPr id="4" name="Text 2"/>
          <p:cNvSpPr/>
          <p:nvPr/>
        </p:nvSpPr>
        <p:spPr>
          <a:xfrm>
            <a:off x="731520" y="548640"/>
            <a:ext cx="7315200" cy="365760"/>
          </a:xfrm>
          <a:prstGeom prst="rect">
            <a:avLst/>
          </a:prstGeom>
          <a:noFill/>
          <a:ln/>
        </p:spPr>
        <p:txBody>
          <a:bodyPr wrap="square" lIns="0" tIns="0" rIns="0" bIns="0" rtlCol="0" anchor="ctr"/>
          <a:lstStyle/>
          <a:p>
            <a:pPr marL="0" indent="0">
              <a:buNone/>
            </a:pPr>
            <a:r>
              <a:rPr lang="en-US" sz="1300" i="1" dirty="0">
                <a:solidFill>
                  <a:srgbClr val="CADCFC"/>
                </a:solidFill>
                <a:latin typeface="Calibri" pitchFamily="34" charset="0"/>
                <a:ea typeface="Calibri" pitchFamily="34" charset="-122"/>
                <a:cs typeface="Calibri" pitchFamily="34" charset="-120"/>
              </a:rPr>
              <a:t>EDES 301 — Project #2 PCB Project</a:t>
            </a:r>
            <a:endParaRPr lang="en-US" sz="1300" dirty="0"/>
          </a:p>
        </p:txBody>
      </p:sp>
      <p:sp>
        <p:nvSpPr>
          <p:cNvPr id="5" name="Text 3"/>
          <p:cNvSpPr/>
          <p:nvPr/>
        </p:nvSpPr>
        <p:spPr>
          <a:xfrm>
            <a:off x="731520" y="1188720"/>
            <a:ext cx="7315200" cy="1097280"/>
          </a:xfrm>
          <a:prstGeom prst="rect">
            <a:avLst/>
          </a:prstGeom>
          <a:noFill/>
          <a:ln/>
        </p:spPr>
        <p:txBody>
          <a:bodyPr wrap="square" lIns="0" tIns="0" rIns="0" bIns="0" rtlCol="0" anchor="ctr"/>
          <a:lstStyle/>
          <a:p>
            <a:pPr marL="0" indent="0">
              <a:buNone/>
            </a:pPr>
            <a:r>
              <a:rPr lang="en-US" sz="5200" b="1" dirty="0">
                <a:solidFill>
                  <a:srgbClr val="FFFFFF"/>
                </a:solidFill>
                <a:latin typeface="Trebuchet MS" pitchFamily="34" charset="0"/>
                <a:ea typeface="Trebuchet MS" pitchFamily="34" charset="-122"/>
                <a:cs typeface="Trebuchet MS" pitchFamily="34" charset="-120"/>
              </a:rPr>
              <a:t>STIK-eNote</a:t>
            </a:r>
            <a:endParaRPr lang="en-US" sz="5200" dirty="0"/>
          </a:p>
        </p:txBody>
      </p:sp>
      <p:sp>
        <p:nvSpPr>
          <p:cNvPr id="6" name="Text 4"/>
          <p:cNvSpPr/>
          <p:nvPr/>
        </p:nvSpPr>
        <p:spPr>
          <a:xfrm>
            <a:off x="731520" y="2286000"/>
            <a:ext cx="5029200" cy="457200"/>
          </a:xfrm>
          <a:prstGeom prst="rect">
            <a:avLst/>
          </a:prstGeom>
          <a:noFill/>
          <a:ln/>
        </p:spPr>
        <p:txBody>
          <a:bodyPr wrap="square" lIns="0" tIns="0" rIns="0" bIns="0" rtlCol="0" anchor="ctr"/>
          <a:lstStyle/>
          <a:p>
            <a:pPr marL="0" indent="0">
              <a:buNone/>
            </a:pPr>
            <a:r>
              <a:rPr lang="en-US" sz="1600" dirty="0">
                <a:solidFill>
                  <a:srgbClr val="CADCFC"/>
                </a:solidFill>
                <a:latin typeface="Calibri" pitchFamily="34" charset="0"/>
                <a:ea typeface="Calibri" pitchFamily="34" charset="-122"/>
                <a:cs typeface="Calibri" pitchFamily="34" charset="-120"/>
              </a:rPr>
              <a:t>PCB Design — Dual-Display Pocketable Task Tracker</a:t>
            </a:r>
            <a:endParaRPr lang="en-US" sz="2000" dirty="0"/>
          </a:p>
        </p:txBody>
      </p:sp>
      <p:sp>
        <p:nvSpPr>
          <p:cNvPr id="7" name="Text 5"/>
          <p:cNvSpPr/>
          <p:nvPr/>
        </p:nvSpPr>
        <p:spPr>
          <a:xfrm>
            <a:off x="731520" y="3291840"/>
            <a:ext cx="5486400" cy="731520"/>
          </a:xfrm>
          <a:prstGeom prst="rect">
            <a:avLst/>
          </a:prstGeom>
          <a:noFill/>
          <a:ln/>
        </p:spPr>
        <p:txBody>
          <a:bodyPr wrap="square" lIns="0" tIns="0" rIns="0" bIns="0" rtlCol="0" anchor="ctr"/>
          <a:lstStyle/>
          <a:p>
            <a:pPr marL="0" indent="0">
              <a:buNone/>
            </a:pPr>
            <a:r>
              <a:rPr lang="en-US" sz="1400" b="1" dirty="0">
                <a:solidFill>
                  <a:srgbClr val="94A3B8"/>
                </a:solidFill>
                <a:latin typeface="Calibri" pitchFamily="34" charset="0"/>
                <a:ea typeface="Calibri" pitchFamily="34" charset="-122"/>
                <a:cs typeface="Calibri" pitchFamily="34" charset="-120"/>
              </a:rPr>
              <a:t>Beckett Lyons </a:t>
            </a:r>
            <a:r>
              <a:rPr lang="en-US" sz="1400" b="1" dirty="0" err="1">
                <a:solidFill>
                  <a:srgbClr val="94A3B8"/>
                </a:solidFill>
                <a:latin typeface="Calibri" pitchFamily="34" charset="0"/>
                <a:ea typeface="Calibri" pitchFamily="34" charset="-122"/>
                <a:cs typeface="Calibri" pitchFamily="34" charset="-120"/>
              </a:rPr>
              <a:t>Mazeau</a:t>
            </a:r>
            <a:endParaRPr lang="en-US" sz="1400" dirty="0"/>
          </a:p>
          <a:p>
            <a:pPr marL="0" indent="0">
              <a:buNone/>
            </a:pPr>
            <a:r>
              <a:rPr lang="en-US" sz="1400" dirty="0">
                <a:solidFill>
                  <a:srgbClr val="94A3B8"/>
                </a:solidFill>
                <a:latin typeface="Calibri" pitchFamily="34" charset="0"/>
                <a:ea typeface="Calibri" pitchFamily="34" charset="-122"/>
                <a:cs typeface="Calibri" pitchFamily="34" charset="-120"/>
              </a:rPr>
              <a:t>Rice University  •  Spring 2026</a:t>
            </a:r>
            <a:endParaRPr lang="en-US" sz="1400" dirty="0"/>
          </a:p>
        </p:txBody>
      </p:sp>
      <p:sp>
        <p:nvSpPr>
          <p:cNvPr id="8" name="Text 6"/>
          <p:cNvSpPr/>
          <p:nvPr/>
        </p:nvSpPr>
        <p:spPr>
          <a:xfrm>
            <a:off x="731520" y="4114800"/>
            <a:ext cx="3657600" cy="274320"/>
          </a:xfrm>
          <a:prstGeom prst="rect">
            <a:avLst/>
          </a:prstGeom>
          <a:noFill/>
          <a:ln/>
        </p:spPr>
        <p:txBody>
          <a:bodyPr wrap="square" lIns="0" tIns="0" rIns="0" bIns="0" rtlCol="0" anchor="ctr"/>
          <a:lstStyle/>
          <a:p>
            <a:pPr marL="0" indent="0">
              <a:buNone/>
            </a:pPr>
            <a:r>
              <a:rPr lang="en-US" sz="1100" dirty="0">
                <a:solidFill>
                  <a:srgbClr val="475569"/>
                </a:solidFill>
                <a:latin typeface="Calibri" pitchFamily="34" charset="0"/>
                <a:ea typeface="Calibri" pitchFamily="34" charset="-122"/>
                <a:cs typeface="Calibri" pitchFamily="34" charset="-120"/>
              </a:rPr>
              <a:t>Due May 5, 2026</a:t>
            </a:r>
            <a:endParaRPr lang="en-US" sz="1100" dirty="0"/>
          </a:p>
        </p:txBody>
      </p:sp>
      <p:sp>
        <p:nvSpPr>
          <p:cNvPr id="14" name="TextBox 13">
            <a:extLst>
              <a:ext uri="{FF2B5EF4-FFF2-40B4-BE49-F238E27FC236}">
                <a16:creationId xmlns:a16="http://schemas.microsoft.com/office/drawing/2014/main" id="{120E3CC3-BBCC-0105-A1AE-C8111E38F415}"/>
              </a:ext>
            </a:extLst>
          </p:cNvPr>
          <p:cNvSpPr txBox="1"/>
          <p:nvPr/>
        </p:nvSpPr>
        <p:spPr>
          <a:xfrm>
            <a:off x="7242993" y="3503131"/>
            <a:ext cx="4076334" cy="215444"/>
          </a:xfrm>
          <a:prstGeom prst="rect">
            <a:avLst/>
          </a:prstGeom>
          <a:noFill/>
        </p:spPr>
        <p:txBody>
          <a:bodyPr wrap="square">
            <a:spAutoFit/>
          </a:bodyPr>
          <a:lstStyle/>
          <a:p>
            <a:pPr marL="0" indent="0">
              <a:buNone/>
            </a:pPr>
            <a:r>
              <a:rPr lang="en-US" sz="800" dirty="0">
                <a:solidFill>
                  <a:srgbClr val="475569"/>
                </a:solidFill>
                <a:latin typeface="Calibri" pitchFamily="34" charset="0"/>
                <a:ea typeface="Calibri" pitchFamily="34" charset="-122"/>
                <a:cs typeface="Calibri" pitchFamily="34" charset="-120"/>
              </a:rPr>
              <a:t>Render generated by Nano Banana Pro</a:t>
            </a:r>
            <a:endParaRPr lang="en-US" sz="800" dirty="0"/>
          </a:p>
        </p:txBody>
      </p:sp>
      <p:pic>
        <p:nvPicPr>
          <p:cNvPr id="16" name="Picture 15">
            <a:extLst>
              <a:ext uri="{FF2B5EF4-FFF2-40B4-BE49-F238E27FC236}">
                <a16:creationId xmlns:a16="http://schemas.microsoft.com/office/drawing/2014/main" id="{D2130037-9080-9147-0657-B7F9736AF3B0}"/>
              </a:ext>
            </a:extLst>
          </p:cNvPr>
          <p:cNvPicPr>
            <a:picLocks noChangeAspect="1"/>
          </p:cNvPicPr>
          <p:nvPr/>
        </p:nvPicPr>
        <p:blipFill>
          <a:blip r:embed="rId3" cstate="hqprint">
            <a:extLst>
              <a:ext uri="{28A0092B-C50C-407E-A947-70E740481C1C}">
                <a14:useLocalDpi xmlns:a14="http://schemas.microsoft.com/office/drawing/2010/main"/>
              </a:ext>
            </a:extLst>
          </a:blip>
          <a:stretch>
            <a:fillRect/>
          </a:stretch>
        </p:blipFill>
        <p:spPr>
          <a:xfrm>
            <a:off x="5530361" y="778268"/>
            <a:ext cx="3596054" cy="2832585"/>
          </a:xfrm>
          <a:prstGeom prst="rect">
            <a:avLst/>
          </a:prstGeom>
          <a:effectLst>
            <a:glow rad="63500">
              <a:schemeClr val="accent1">
                <a:satMod val="175000"/>
                <a:alpha val="40000"/>
              </a:schemeClr>
            </a:glow>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txBody>
          <a:bodyPr/>
          <a:lstStyle/>
          <a:p>
            <a:endParaRPr lang="en-US"/>
          </a:p>
        </p:txBody>
      </p:sp>
      <p:sp>
        <p:nvSpPr>
          <p:cNvPr id="3" name="Text 1"/>
          <p:cNvSpPr/>
          <p:nvPr/>
        </p:nvSpPr>
        <p:spPr>
          <a:xfrm>
            <a:off x="548640" y="91440"/>
            <a:ext cx="7315200" cy="59436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ea typeface="Trebuchet MS" pitchFamily="34" charset="-122"/>
                <a:cs typeface="Trebuchet MS" pitchFamily="34" charset="-120"/>
              </a:rPr>
              <a:t>Background Information</a:t>
            </a:r>
            <a:endParaRPr lang="en-US" sz="2800" dirty="0"/>
          </a:p>
        </p:txBody>
      </p:sp>
      <p:sp>
        <p:nvSpPr>
          <p:cNvPr id="4" name="Text 2"/>
          <p:cNvSpPr/>
          <p:nvPr/>
        </p:nvSpPr>
        <p:spPr>
          <a:xfrm>
            <a:off x="548640" y="1051560"/>
            <a:ext cx="4754880" cy="365760"/>
          </a:xfrm>
          <a:prstGeom prst="rect">
            <a:avLst/>
          </a:prstGeom>
          <a:noFill/>
          <a:ln/>
        </p:spPr>
        <p:txBody>
          <a:bodyPr wrap="square" lIns="0" tIns="0" rIns="0" bIns="0" rtlCol="0" anchor="ctr"/>
          <a:lstStyle/>
          <a:p>
            <a:pPr marL="0" indent="0">
              <a:buNone/>
            </a:pPr>
            <a:r>
              <a:rPr lang="en-US" sz="1800" b="1" dirty="0">
                <a:solidFill>
                  <a:srgbClr val="1A2744"/>
                </a:solidFill>
                <a:latin typeface="Trebuchet MS" pitchFamily="34" charset="0"/>
                <a:ea typeface="Trebuchet MS" pitchFamily="34" charset="-122"/>
                <a:cs typeface="Trebuchet MS" pitchFamily="34" charset="-120"/>
              </a:rPr>
              <a:t>What Is STIK-eNote?</a:t>
            </a:r>
            <a:endParaRPr lang="en-US" sz="1800" dirty="0"/>
          </a:p>
        </p:txBody>
      </p:sp>
      <p:sp>
        <p:nvSpPr>
          <p:cNvPr id="5" name="Text 3"/>
          <p:cNvSpPr/>
          <p:nvPr/>
        </p:nvSpPr>
        <p:spPr>
          <a:xfrm>
            <a:off x="548640" y="1463040"/>
            <a:ext cx="4754880" cy="2560320"/>
          </a:xfrm>
          <a:prstGeom prst="rect">
            <a:avLst/>
          </a:prstGeom>
          <a:noFill/>
          <a:ln/>
        </p:spPr>
        <p:txBody>
          <a:bodyPr wrap="square" lIns="0" tIns="0" rIns="0" bIns="0" rtlCol="0" anchor="t"/>
          <a:lstStyle/>
          <a:p>
            <a:pPr marL="0" indent="0">
              <a:lnSpc>
                <a:spcPct val="115000"/>
              </a:lnSpc>
              <a:buNone/>
            </a:pPr>
            <a:r>
              <a:rPr lang="en-US" sz="1250" dirty="0">
                <a:solidFill>
                  <a:srgbClr val="475569"/>
                </a:solidFill>
                <a:latin typeface="Calibri" pitchFamily="34" charset="0"/>
                <a:ea typeface="Calibri" pitchFamily="34" charset="-122"/>
                <a:cs typeface="Calibri" pitchFamily="34" charset="-120"/>
              </a:rPr>
              <a:t>STIK-eNote is a pocketable, clamshell-style task tracking device built around the ESP32-S3. When the device is closed, the user sees a persistent low-power ePaper display showing the current task list. Opening the device wakes the ESP32-S3 via a physical wake button, powering on a color TFT LCD and an M5Stack CardKB mini keyboard for full task editing and management.</a:t>
            </a:r>
            <a:endParaRPr lang="en-US" sz="1250" dirty="0"/>
          </a:p>
          <a:p>
            <a:pPr marL="0" indent="0">
              <a:lnSpc>
                <a:spcPct val="115000"/>
              </a:lnSpc>
              <a:buNone/>
            </a:pPr>
            <a:endParaRPr lang="en-US" sz="1250" dirty="0"/>
          </a:p>
          <a:p>
            <a:pPr marL="0" indent="0">
              <a:lnSpc>
                <a:spcPct val="115000"/>
              </a:lnSpc>
              <a:buNone/>
            </a:pPr>
            <a:r>
              <a:rPr lang="en-US" sz="1250" dirty="0">
                <a:solidFill>
                  <a:srgbClr val="475569"/>
                </a:solidFill>
                <a:latin typeface="Calibri" pitchFamily="34" charset="0"/>
                <a:ea typeface="Calibri" pitchFamily="34" charset="-122"/>
                <a:cs typeface="Calibri" pitchFamily="34" charset="-120"/>
              </a:rPr>
              <a:t>Power is delivered by an 800mAh LiPo battery routed through a buck-boost converter to a stable +5V rail, which then feeds a linear regulator producing a clean +3.3V rail for all logic-level peripherals. The two SPI displays sit on dedicated SPI buses (FSPI and HSPI) so each can be addressed independently, while the keyboard communicates with the MCU over a shared I2C bus.</a:t>
            </a:r>
            <a:endParaRPr lang="en-US" sz="1250" dirty="0"/>
          </a:p>
        </p:txBody>
      </p:sp>
      <p:sp>
        <p:nvSpPr>
          <p:cNvPr id="6" name="Shape 4"/>
          <p:cNvSpPr/>
          <p:nvPr/>
        </p:nvSpPr>
        <p:spPr>
          <a:xfrm>
            <a:off x="548640" y="4160520"/>
            <a:ext cx="4754880" cy="777240"/>
          </a:xfrm>
          <a:prstGeom prst="rect">
            <a:avLst/>
          </a:prstGeom>
          <a:solidFill>
            <a:srgbClr val="E8EEFB"/>
          </a:solidFill>
          <a:ln w="12700">
            <a:solidFill>
              <a:srgbClr val="3B82F6"/>
            </a:solidFill>
            <a:prstDash val="solid"/>
          </a:ln>
        </p:spPr>
        <p:txBody>
          <a:bodyPr/>
          <a:lstStyle/>
          <a:p>
            <a:endParaRPr lang="en-US"/>
          </a:p>
        </p:txBody>
      </p:sp>
      <p:sp>
        <p:nvSpPr>
          <p:cNvPr id="7" name="Text 5"/>
          <p:cNvSpPr/>
          <p:nvPr/>
        </p:nvSpPr>
        <p:spPr>
          <a:xfrm>
            <a:off x="685800" y="4206240"/>
            <a:ext cx="4480560" cy="685800"/>
          </a:xfrm>
          <a:prstGeom prst="rect">
            <a:avLst/>
          </a:prstGeom>
          <a:noFill/>
          <a:ln/>
        </p:spPr>
        <p:txBody>
          <a:bodyPr wrap="square" lIns="0" tIns="0" rIns="0" bIns="0" rtlCol="0" anchor="ctr"/>
          <a:lstStyle/>
          <a:p>
            <a:pPr marL="0" indent="0">
              <a:buNone/>
            </a:pPr>
            <a:r>
              <a:rPr lang="en-US" sz="1150" b="1" dirty="0">
                <a:solidFill>
                  <a:srgbClr val="1A2744"/>
                </a:solidFill>
                <a:latin typeface="Calibri" pitchFamily="34" charset="0"/>
                <a:ea typeface="Calibri" pitchFamily="34" charset="-122"/>
                <a:cs typeface="Calibri" pitchFamily="34" charset="-120"/>
              </a:rPr>
              <a:t>The Story: </a:t>
            </a:r>
            <a:r>
              <a:rPr lang="en-US" sz="1150" dirty="0">
                <a:solidFill>
                  <a:srgbClr val="475569"/>
                </a:solidFill>
                <a:latin typeface="Calibri" pitchFamily="34" charset="0"/>
                <a:ea typeface="Calibri" pitchFamily="34" charset="-122"/>
                <a:cs typeface="Calibri" pitchFamily="34" charset="-120"/>
              </a:rPr>
              <a:t>A tool to manage daily tasks without the distractions of a phone or laptop — always in your pocket, always showing your priorities at a glance.</a:t>
            </a:r>
            <a:endParaRPr lang="en-US" sz="1150" dirty="0"/>
          </a:p>
        </p:txBody>
      </p:sp>
      <p:sp>
        <p:nvSpPr>
          <p:cNvPr id="8" name="Text 6"/>
          <p:cNvSpPr/>
          <p:nvPr/>
        </p:nvSpPr>
        <p:spPr>
          <a:xfrm>
            <a:off x="5669280" y="1051560"/>
            <a:ext cx="3200400" cy="365760"/>
          </a:xfrm>
          <a:prstGeom prst="rect">
            <a:avLst/>
          </a:prstGeom>
          <a:noFill/>
          <a:ln/>
        </p:spPr>
        <p:txBody>
          <a:bodyPr wrap="square" lIns="0" tIns="0" rIns="0" bIns="0" rtlCol="0" anchor="ctr"/>
          <a:lstStyle/>
          <a:p>
            <a:pPr marL="0" indent="0">
              <a:buNone/>
            </a:pPr>
            <a:r>
              <a:rPr lang="en-US" sz="1800" b="1" dirty="0">
                <a:solidFill>
                  <a:srgbClr val="1A2744"/>
                </a:solidFill>
                <a:latin typeface="Trebuchet MS" pitchFamily="34" charset="0"/>
                <a:ea typeface="Trebuchet MS" pitchFamily="34" charset="-122"/>
                <a:cs typeface="Trebuchet MS" pitchFamily="34" charset="-120"/>
              </a:rPr>
              <a:t>Key Features</a:t>
            </a:r>
            <a:endParaRPr lang="en-US" sz="1800" dirty="0"/>
          </a:p>
        </p:txBody>
      </p:sp>
      <p:sp>
        <p:nvSpPr>
          <p:cNvPr id="9" name="Shape 7"/>
          <p:cNvSpPr/>
          <p:nvPr/>
        </p:nvSpPr>
        <p:spPr>
          <a:xfrm>
            <a:off x="5669280" y="1508760"/>
            <a:ext cx="3108960" cy="64008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0" name="Shape 8"/>
          <p:cNvSpPr/>
          <p:nvPr/>
        </p:nvSpPr>
        <p:spPr>
          <a:xfrm>
            <a:off x="5669280" y="1508760"/>
            <a:ext cx="54864" cy="640080"/>
          </a:xfrm>
          <a:prstGeom prst="rect">
            <a:avLst/>
          </a:prstGeom>
          <a:solidFill>
            <a:srgbClr val="3B82F6"/>
          </a:solidFill>
          <a:ln/>
        </p:spPr>
        <p:txBody>
          <a:bodyPr/>
          <a:lstStyle/>
          <a:p>
            <a:endParaRPr lang="en-US"/>
          </a:p>
        </p:txBody>
      </p:sp>
      <p:sp>
        <p:nvSpPr>
          <p:cNvPr id="11" name="Text 9"/>
          <p:cNvSpPr/>
          <p:nvPr/>
        </p:nvSpPr>
        <p:spPr>
          <a:xfrm>
            <a:off x="5870448" y="1554480"/>
            <a:ext cx="2788920" cy="548640"/>
          </a:xfrm>
          <a:prstGeom prst="rect">
            <a:avLst/>
          </a:prstGeom>
          <a:noFill/>
          <a:ln/>
        </p:spPr>
        <p:txBody>
          <a:bodyPr wrap="square" lIns="0" tIns="0" rIns="0" bIns="0"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Dual Display</a:t>
            </a:r>
            <a:endParaRPr lang="en-US" sz="1200" dirty="0"/>
          </a:p>
          <a:p>
            <a:pPr marL="0" indent="0">
              <a:buNone/>
            </a:pPr>
            <a:r>
              <a:rPr lang="en-US" sz="1050" dirty="0">
                <a:solidFill>
                  <a:srgbClr val="475569"/>
                </a:solidFill>
                <a:latin typeface="Calibri" pitchFamily="34" charset="0"/>
                <a:ea typeface="Calibri" pitchFamily="34" charset="-122"/>
                <a:cs typeface="Calibri" pitchFamily="34" charset="-120"/>
              </a:rPr>
              <a:t>ePaper for always-on task view; TFT for active editing</a:t>
            </a:r>
            <a:endParaRPr lang="en-US" sz="1200" dirty="0"/>
          </a:p>
        </p:txBody>
      </p:sp>
      <p:sp>
        <p:nvSpPr>
          <p:cNvPr id="12" name="Shape 10"/>
          <p:cNvSpPr/>
          <p:nvPr/>
        </p:nvSpPr>
        <p:spPr>
          <a:xfrm>
            <a:off x="5669280" y="2286000"/>
            <a:ext cx="3108960" cy="64008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3" name="Shape 11"/>
          <p:cNvSpPr/>
          <p:nvPr/>
        </p:nvSpPr>
        <p:spPr>
          <a:xfrm>
            <a:off x="5669280" y="2286000"/>
            <a:ext cx="54864" cy="640080"/>
          </a:xfrm>
          <a:prstGeom prst="rect">
            <a:avLst/>
          </a:prstGeom>
          <a:solidFill>
            <a:srgbClr val="3B82F6"/>
          </a:solidFill>
          <a:ln/>
        </p:spPr>
        <p:txBody>
          <a:bodyPr/>
          <a:lstStyle/>
          <a:p>
            <a:endParaRPr lang="en-US"/>
          </a:p>
        </p:txBody>
      </p:sp>
      <p:sp>
        <p:nvSpPr>
          <p:cNvPr id="14" name="Text 12"/>
          <p:cNvSpPr/>
          <p:nvPr/>
        </p:nvSpPr>
        <p:spPr>
          <a:xfrm>
            <a:off x="5870448" y="2331720"/>
            <a:ext cx="2788920" cy="548640"/>
          </a:xfrm>
          <a:prstGeom prst="rect">
            <a:avLst/>
          </a:prstGeom>
          <a:noFill/>
          <a:ln/>
        </p:spPr>
        <p:txBody>
          <a:bodyPr wrap="square" lIns="0" tIns="0" rIns="0" bIns="0"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Wake-on-Open</a:t>
            </a:r>
            <a:endParaRPr lang="en-US" sz="1200" dirty="0"/>
          </a:p>
          <a:p>
            <a:pPr marL="0" indent="0">
              <a:buNone/>
            </a:pPr>
            <a:r>
              <a:rPr lang="en-US" sz="1050" dirty="0">
                <a:solidFill>
                  <a:srgbClr val="475569"/>
                </a:solidFill>
                <a:latin typeface="Calibri" pitchFamily="34" charset="0"/>
                <a:ea typeface="Calibri" pitchFamily="34" charset="-122"/>
                <a:cs typeface="Calibri" pitchFamily="34" charset="-120"/>
              </a:rPr>
              <a:t>Physical wake button on hinge brings ESP32-S3 out of deep sleep</a:t>
            </a:r>
            <a:endParaRPr lang="en-US" sz="1200" dirty="0"/>
          </a:p>
        </p:txBody>
      </p:sp>
      <p:sp>
        <p:nvSpPr>
          <p:cNvPr id="15" name="Shape 13"/>
          <p:cNvSpPr/>
          <p:nvPr/>
        </p:nvSpPr>
        <p:spPr>
          <a:xfrm>
            <a:off x="5669280" y="3063240"/>
            <a:ext cx="3108960" cy="64008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6" name="Shape 14"/>
          <p:cNvSpPr/>
          <p:nvPr/>
        </p:nvSpPr>
        <p:spPr>
          <a:xfrm>
            <a:off x="5669280" y="3063240"/>
            <a:ext cx="54864" cy="640080"/>
          </a:xfrm>
          <a:prstGeom prst="rect">
            <a:avLst/>
          </a:prstGeom>
          <a:solidFill>
            <a:srgbClr val="3B82F6"/>
          </a:solidFill>
          <a:ln/>
        </p:spPr>
        <p:txBody>
          <a:bodyPr/>
          <a:lstStyle/>
          <a:p>
            <a:endParaRPr lang="en-US"/>
          </a:p>
        </p:txBody>
      </p:sp>
      <p:sp>
        <p:nvSpPr>
          <p:cNvPr id="17" name="Text 15"/>
          <p:cNvSpPr/>
          <p:nvPr/>
        </p:nvSpPr>
        <p:spPr>
          <a:xfrm>
            <a:off x="5870448" y="3108960"/>
            <a:ext cx="2788920" cy="548640"/>
          </a:xfrm>
          <a:prstGeom prst="rect">
            <a:avLst/>
          </a:prstGeom>
          <a:noFill/>
          <a:ln/>
        </p:spPr>
        <p:txBody>
          <a:bodyPr wrap="square" lIns="0" tIns="0" rIns="0" bIns="0"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Compact Keyboard</a:t>
            </a:r>
            <a:endParaRPr lang="en-US" sz="1200" dirty="0"/>
          </a:p>
          <a:p>
            <a:pPr marL="0" indent="0">
              <a:buNone/>
            </a:pPr>
            <a:r>
              <a:rPr lang="en-US" sz="1050" dirty="0">
                <a:solidFill>
                  <a:srgbClr val="475569"/>
                </a:solidFill>
                <a:latin typeface="Calibri" pitchFamily="34" charset="0"/>
                <a:ea typeface="Calibri" pitchFamily="34" charset="-122"/>
                <a:cs typeface="Calibri" pitchFamily="34" charset="-120"/>
              </a:rPr>
              <a:t>M5Stack CardKB QWERTY keypad over I2C (addr 0x5F)</a:t>
            </a:r>
            <a:endParaRPr lang="en-US" sz="1200" dirty="0"/>
          </a:p>
        </p:txBody>
      </p:sp>
      <p:sp>
        <p:nvSpPr>
          <p:cNvPr id="18" name="Shape 16"/>
          <p:cNvSpPr/>
          <p:nvPr/>
        </p:nvSpPr>
        <p:spPr>
          <a:xfrm>
            <a:off x="5669280" y="3840480"/>
            <a:ext cx="3108960" cy="640080"/>
          </a:xfrm>
          <a:prstGeom prst="rect">
            <a:avLst/>
          </a:prstGeom>
          <a:solidFill>
            <a:srgbClr val="FFFFFF"/>
          </a:solidFill>
          <a:ln/>
          <a:effectLst>
            <a:outerShdw blurRad="50800" dist="12700" dir="8100000" algn="bl" rotWithShape="0">
              <a:srgbClr val="000000">
                <a:alpha val="10000"/>
              </a:srgbClr>
            </a:outerShdw>
          </a:effectLst>
        </p:spPr>
        <p:txBody>
          <a:bodyPr/>
          <a:lstStyle/>
          <a:p>
            <a:endParaRPr lang="en-US"/>
          </a:p>
        </p:txBody>
      </p:sp>
      <p:sp>
        <p:nvSpPr>
          <p:cNvPr id="19" name="Shape 17"/>
          <p:cNvSpPr/>
          <p:nvPr/>
        </p:nvSpPr>
        <p:spPr>
          <a:xfrm>
            <a:off x="5669280" y="3840480"/>
            <a:ext cx="54864" cy="640080"/>
          </a:xfrm>
          <a:prstGeom prst="rect">
            <a:avLst/>
          </a:prstGeom>
          <a:solidFill>
            <a:srgbClr val="3B82F6"/>
          </a:solidFill>
          <a:ln/>
        </p:spPr>
        <p:txBody>
          <a:bodyPr/>
          <a:lstStyle/>
          <a:p>
            <a:endParaRPr lang="en-US"/>
          </a:p>
        </p:txBody>
      </p:sp>
      <p:sp>
        <p:nvSpPr>
          <p:cNvPr id="20" name="Text 18"/>
          <p:cNvSpPr/>
          <p:nvPr/>
        </p:nvSpPr>
        <p:spPr>
          <a:xfrm>
            <a:off x="5870448" y="3886200"/>
            <a:ext cx="2788920" cy="548640"/>
          </a:xfrm>
          <a:prstGeom prst="rect">
            <a:avLst/>
          </a:prstGeom>
          <a:noFill/>
          <a:ln/>
        </p:spPr>
        <p:txBody>
          <a:bodyPr wrap="square" lIns="0" tIns="0" rIns="0" bIns="0" rtlCol="0" anchor="ctr"/>
          <a:lstStyle/>
          <a:p>
            <a:pPr marL="0" indent="0">
              <a:buNone/>
            </a:pPr>
            <a:r>
              <a:rPr lang="en-US" sz="1200" b="1" dirty="0">
                <a:solidFill>
                  <a:srgbClr val="1A2744"/>
                </a:solidFill>
                <a:latin typeface="Calibri" pitchFamily="34" charset="0"/>
                <a:ea typeface="Calibri" pitchFamily="34" charset="-122"/>
                <a:cs typeface="Calibri" pitchFamily="34" charset="-120"/>
              </a:rPr>
              <a:t>Open Source</a:t>
            </a:r>
            <a:endParaRPr lang="en-US" sz="1200" dirty="0"/>
          </a:p>
          <a:p>
            <a:pPr marL="0" indent="0">
              <a:buNone/>
            </a:pPr>
            <a:r>
              <a:rPr lang="en-US" sz="1050" dirty="0">
                <a:solidFill>
                  <a:srgbClr val="475569"/>
                </a:solidFill>
                <a:latin typeface="Calibri" pitchFamily="34" charset="0"/>
                <a:ea typeface="Calibri" pitchFamily="34" charset="-122"/>
                <a:cs typeface="Calibri" pitchFamily="34" charset="-120"/>
              </a:rPr>
              <a:t>Designed for sharing with the embedded community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Header Bar"/>
          <p:cNvSpPr/>
          <p:nvPr/>
        </p:nvSpPr>
        <p:spPr>
          <a:xfrm>
            <a:off x="0" y="0"/>
            <a:ext cx="9144000" cy="640080"/>
          </a:xfrm>
          <a:prstGeom prst="rect">
            <a:avLst/>
          </a:prstGeom>
          <a:solidFill>
            <a:srgbClr val="1A2744"/>
          </a:solidFill>
          <a:ln/>
        </p:spPr>
        <p:txBody>
          <a:bodyPr/>
          <a:lstStyle/>
          <a:p>
            <a:endParaRPr lang="en-US"/>
          </a:p>
        </p:txBody>
      </p:sp>
      <p:sp>
        <p:nvSpPr>
          <p:cNvPr id="3" name="Title Text"/>
          <p:cNvSpPr/>
          <p:nvPr/>
        </p:nvSpPr>
        <p:spPr>
          <a:xfrm>
            <a:off x="548640" y="91440"/>
            <a:ext cx="8046720" cy="45720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System Block Diagram — STIK-eNote V2</a:t>
            </a:r>
            <a:endParaRPr lang="en-US" sz="2400" dirty="0"/>
          </a:p>
        </p:txBody>
      </p:sp>
      <p:pic>
        <p:nvPicPr>
          <p:cNvPr id="10" name="Picture 9">
            <a:extLst>
              <a:ext uri="{FF2B5EF4-FFF2-40B4-BE49-F238E27FC236}">
                <a16:creationId xmlns:a16="http://schemas.microsoft.com/office/drawing/2014/main" id="{8F74ACAA-28D0-4A81-1C31-AB0C7BB4DA4E}"/>
              </a:ext>
            </a:extLst>
          </p:cNvPr>
          <p:cNvPicPr>
            <a:picLocks noChangeAspect="1"/>
          </p:cNvPicPr>
          <p:nvPr/>
        </p:nvPicPr>
        <p:blipFill>
          <a:blip r:embed="rId3"/>
          <a:stretch>
            <a:fillRect/>
          </a:stretch>
        </p:blipFill>
        <p:spPr>
          <a:xfrm>
            <a:off x="480060" y="640080"/>
            <a:ext cx="8183880" cy="450252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9">
    <p:bg>
      <p:bgPr>
        <a:solidFill>
          <a:srgbClr val="0F1A2E"/>
        </a:solidFill>
        <a:effectLst/>
      </p:bgPr>
    </p:bg>
    <p:spTree>
      <p:nvGrpSpPr>
        <p:cNvPr id="1" name=""/>
        <p:cNvGrpSpPr/>
        <p:nvPr/>
      </p:nvGrpSpPr>
      <p:grpSpPr>
        <a:xfrm>
          <a:off x="0" y="0"/>
          <a:ext cx="0" cy="0"/>
          <a:chOff x="0" y="0"/>
          <a:chExt cx="0" cy="0"/>
        </a:xfrm>
      </p:grpSpPr>
      <p:sp>
        <p:nvSpPr>
          <p:cNvPr id="2" name="Header Bar"/>
          <p:cNvSpPr/>
          <p:nvPr/>
        </p:nvSpPr>
        <p:spPr>
          <a:xfrm>
            <a:off x="0" y="0"/>
            <a:ext cx="9144000" cy="640080"/>
          </a:xfrm>
          <a:prstGeom prst="rect">
            <a:avLst/>
          </a:prstGeom>
          <a:solidFill>
            <a:srgbClr val="1A2744"/>
          </a:solidFill>
          <a:ln/>
        </p:spPr>
        <p:txBody>
          <a:bodyPr/>
          <a:lstStyle/>
          <a:p>
            <a:endParaRPr lang="en-US"/>
          </a:p>
        </p:txBody>
      </p:sp>
      <p:sp>
        <p:nvSpPr>
          <p:cNvPr id="20" name="Header Accent"/>
          <p:cNvSpPr/>
          <p:nvPr/>
        </p:nvSpPr>
        <p:spPr>
          <a:xfrm>
            <a:off x="0" y="640080"/>
            <a:ext cx="9144000" cy="36576"/>
          </a:xfrm>
          <a:prstGeom prst="rect">
            <a:avLst/>
          </a:prstGeom>
          <a:solidFill>
            <a:srgbClr val="3B82F6"/>
          </a:solidFill>
          <a:ln/>
        </p:spPr>
        <p:txBody>
          <a:bodyPr/>
          <a:lstStyle/>
          <a:p>
            <a:endParaRPr lang="en-US"/>
          </a:p>
        </p:txBody>
      </p:sp>
      <p:sp>
        <p:nvSpPr>
          <p:cNvPr id="3" name="Title Text"/>
          <p:cNvSpPr/>
          <p:nvPr/>
        </p:nvSpPr>
        <p:spPr>
          <a:xfrm>
            <a:off x="548640" y="91440"/>
            <a:ext cx="8046720" cy="45720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Mechanical Drawing — Clamshell Layout</a:t>
            </a:r>
            <a:endParaRPr lang="en-US" sz="2400" dirty="0"/>
          </a:p>
        </p:txBody>
      </p:sp>
      <p:sp>
        <p:nvSpPr>
          <p:cNvPr id="10" name="Footer Caption Open"/>
          <p:cNvSpPr/>
          <p:nvPr/>
        </p:nvSpPr>
        <p:spPr>
          <a:xfrm>
            <a:off x="365760" y="4480940"/>
            <a:ext cx="4114800" cy="500000"/>
          </a:xfrm>
          <a:prstGeom prst="rect">
            <a:avLst/>
          </a:prstGeom>
          <a:noFill/>
          <a:ln/>
        </p:spPr>
        <p:txBody>
          <a:bodyPr wrap="square" lIns="0" tIns="0" rIns="0" bIns="0" rtlCol="0" anchor="t"/>
          <a:lstStyle/>
          <a:p>
            <a:pPr marL="0" indent="0" algn="l">
              <a:buNone/>
            </a:pPr>
            <a:r>
              <a:rPr lang="en-US" sz="1100" b="1" dirty="0">
                <a:solidFill>
                  <a:srgbClr val="6EE7B7"/>
                </a:solidFill>
                <a:latin typeface="Calibri" pitchFamily="34" charset="0"/>
              </a:rPr>
              <a:t>OPEN (Active Mode):</a:t>
            </a:r>
            <a:r>
              <a:rPr lang="en-US" sz="1100" dirty="0">
                <a:solidFill>
                  <a:srgbClr val="CADCFC"/>
                </a:solidFill>
                <a:latin typeface="Calibri" pitchFamily="34" charset="0"/>
              </a:rPr>
              <a:t> ePaper sits back-to-back with TFT, exposing the keyboard and the full edit view.</a:t>
            </a:r>
            <a:endParaRPr lang="en-US" sz="1100" dirty="0"/>
          </a:p>
        </p:txBody>
      </p:sp>
      <p:sp>
        <p:nvSpPr>
          <p:cNvPr id="11" name="Footer Caption Closed"/>
          <p:cNvSpPr/>
          <p:nvPr/>
        </p:nvSpPr>
        <p:spPr>
          <a:xfrm>
            <a:off x="4663440" y="4480940"/>
            <a:ext cx="4114800" cy="500000"/>
          </a:xfrm>
          <a:prstGeom prst="rect">
            <a:avLst/>
          </a:prstGeom>
          <a:noFill/>
          <a:ln/>
        </p:spPr>
        <p:txBody>
          <a:bodyPr wrap="square" lIns="0" tIns="0" rIns="0" bIns="0" rtlCol="0" anchor="t"/>
          <a:lstStyle/>
          <a:p>
            <a:pPr marL="0" indent="0" algn="l">
              <a:buNone/>
            </a:pPr>
            <a:r>
              <a:rPr lang="en-US" sz="1100" b="1" dirty="0">
                <a:solidFill>
                  <a:srgbClr val="FCA5A5"/>
                </a:solidFill>
                <a:latin typeface="Calibri" pitchFamily="34" charset="0"/>
              </a:rPr>
              <a:t>CLOSED (Persistent Mode):</a:t>
            </a:r>
            <a:r>
              <a:rPr lang="en-US" sz="1100" dirty="0">
                <a:solidFill>
                  <a:srgbClr val="CADCFC"/>
                </a:solidFill>
                <a:latin typeface="Calibri" pitchFamily="34" charset="0"/>
              </a:rPr>
              <a:t> ePaper visible through window in case; ESP32-S3 deep-sleeps.</a:t>
            </a:r>
            <a:endParaRPr lang="en-US" sz="1100" dirty="0"/>
          </a:p>
        </p:txBody>
      </p:sp>
      <p:sp>
        <p:nvSpPr>
          <p:cNvPr id="12" name="Dimension Note"/>
          <p:cNvSpPr/>
          <p:nvPr/>
        </p:nvSpPr>
        <p:spPr>
          <a:xfrm>
            <a:off x="365760" y="4830000"/>
            <a:ext cx="8412480" cy="270000"/>
          </a:xfrm>
          <a:prstGeom prst="rect">
            <a:avLst/>
          </a:prstGeom>
          <a:noFill/>
          <a:ln/>
        </p:spPr>
        <p:txBody>
          <a:bodyPr wrap="square" lIns="0" tIns="0" rIns="0" bIns="0" rtlCol="0" anchor="t"/>
          <a:lstStyle/>
          <a:p>
            <a:pPr marL="0" indent="0" algn="l">
              <a:buNone/>
            </a:pPr>
            <a:r>
              <a:rPr lang="en-US" sz="1000" i="1" dirty="0">
                <a:solidFill>
                  <a:srgbClr val="9CA3AF"/>
                </a:solidFill>
                <a:latin typeface="Calibri" pitchFamily="34" charset="0"/>
              </a:rPr>
              <a:t>PCB outline target: 3.5” × 2.0” (within 4” × 5” budget). Components: ESP32-S3 DevKitC-1, ST7735S 1.8” TFT, GDEQ0213B74 ePaper, M5Stack CardKB, 800mAh LiPo, buck-boost converter, linear regulator, USB-C input, wake button.</a:t>
            </a:r>
            <a:endParaRPr lang="en-US" sz="1000" dirty="0"/>
          </a:p>
        </p:txBody>
      </p:sp>
      <p:pic>
        <p:nvPicPr>
          <p:cNvPr id="6" name="Picture 5">
            <a:extLst>
              <a:ext uri="{FF2B5EF4-FFF2-40B4-BE49-F238E27FC236}">
                <a16:creationId xmlns:a16="http://schemas.microsoft.com/office/drawing/2014/main" id="{6E4906F6-8978-19C7-38B9-0F435055A2F6}"/>
              </a:ext>
            </a:extLst>
          </p:cNvPr>
          <p:cNvPicPr>
            <a:picLocks noChangeAspect="1"/>
          </p:cNvPicPr>
          <p:nvPr/>
        </p:nvPicPr>
        <p:blipFill>
          <a:blip r:embed="rId2"/>
          <a:stretch>
            <a:fillRect/>
          </a:stretch>
        </p:blipFill>
        <p:spPr>
          <a:xfrm>
            <a:off x="954433" y="774911"/>
            <a:ext cx="7052254" cy="3633682"/>
          </a:xfrm>
          <a:prstGeom prst="rect">
            <a:avLst/>
          </a:prstGeom>
          <a:ln w="19050">
            <a:solidFill>
              <a:schemeClr val="accent1"/>
            </a:solid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txBody>
          <a:bodyPr/>
          <a:lstStyle/>
          <a:p>
            <a:endParaRPr lang="en-US"/>
          </a:p>
        </p:txBody>
      </p:sp>
      <p:sp>
        <p:nvSpPr>
          <p:cNvPr id="3" name="Text 1"/>
          <p:cNvSpPr/>
          <p:nvPr/>
        </p:nvSpPr>
        <p:spPr>
          <a:xfrm>
            <a:off x="548640" y="91440"/>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Subsystem Detail — 5V Boost Converter</a:t>
            </a:r>
            <a:endParaRPr lang="en-US" sz="2400" dirty="0"/>
          </a:p>
        </p:txBody>
      </p:sp>
      <p:pic>
        <p:nvPicPr>
          <p:cNvPr id="4" name="Image 0" descr="/home/claude/boost_converter.png"/>
          <p:cNvPicPr>
            <a:picLocks noChangeAspect="1"/>
          </p:cNvPicPr>
          <p:nvPr/>
        </p:nvPicPr>
        <p:blipFill>
          <a:blip r:embed="rId3"/>
          <a:stretch>
            <a:fillRect/>
          </a:stretch>
        </p:blipFill>
        <p:spPr>
          <a:xfrm>
            <a:off x="365760" y="1005840"/>
            <a:ext cx="4572000" cy="1748375"/>
          </a:xfrm>
          <a:prstGeom prst="rect">
            <a:avLst/>
          </a:prstGeom>
        </p:spPr>
      </p:pic>
      <p:sp>
        <p:nvSpPr>
          <p:cNvPr id="5" name="Text 2"/>
          <p:cNvSpPr/>
          <p:nvPr/>
        </p:nvSpPr>
        <p:spPr>
          <a:xfrm>
            <a:off x="5212080" y="1005840"/>
            <a:ext cx="3657600" cy="320040"/>
          </a:xfrm>
          <a:prstGeom prst="rect">
            <a:avLst/>
          </a:prstGeom>
          <a:noFill/>
          <a:ln/>
        </p:spPr>
        <p:txBody>
          <a:bodyPr wrap="square" lIns="0" tIns="0" rIns="0" bIns="0" rtlCol="0" anchor="ctr"/>
          <a:lstStyle/>
          <a:p>
            <a:pPr marL="0" indent="0">
              <a:buNone/>
            </a:pPr>
            <a:r>
              <a:rPr lang="en-US" sz="1800" b="1" dirty="0">
                <a:solidFill>
                  <a:srgbClr val="1A2744"/>
                </a:solidFill>
                <a:latin typeface="Trebuchet MS" pitchFamily="34" charset="0"/>
                <a:ea typeface="Trebuchet MS" pitchFamily="34" charset="-122"/>
                <a:cs typeface="Trebuchet MS" pitchFamily="34" charset="-120"/>
              </a:rPr>
              <a:t>How It Works</a:t>
            </a:r>
            <a:endParaRPr lang="en-US" sz="1800" dirty="0"/>
          </a:p>
        </p:txBody>
      </p:sp>
      <p:sp>
        <p:nvSpPr>
          <p:cNvPr id="6" name="Text 3"/>
          <p:cNvSpPr/>
          <p:nvPr/>
        </p:nvSpPr>
        <p:spPr>
          <a:xfrm>
            <a:off x="5212080" y="1417320"/>
            <a:ext cx="3566160" cy="2377440"/>
          </a:xfrm>
          <a:prstGeom prst="rect">
            <a:avLst/>
          </a:prstGeom>
          <a:noFill/>
          <a:ln/>
        </p:spPr>
        <p:txBody>
          <a:bodyPr wrap="square" lIns="0" tIns="0" rIns="0" bIns="0" rtlCol="0" anchor="t"/>
          <a:lstStyle/>
          <a:p>
            <a:pPr marL="0" indent="0">
              <a:lnSpc>
                <a:spcPct val="112000"/>
              </a:lnSpc>
              <a:buNone/>
            </a:pPr>
            <a:r>
              <a:rPr lang="en-US" sz="1050" dirty="0">
                <a:solidFill>
                  <a:srgbClr val="475569"/>
                </a:solidFill>
                <a:latin typeface="Calibri" pitchFamily="34" charset="0"/>
                <a:ea typeface="Calibri" pitchFamily="34" charset="-122"/>
                <a:cs typeface="Calibri" pitchFamily="34" charset="-120"/>
              </a:rPr>
              <a:t>The TPS613222ADBVR is a synchronous boost converter that steps up the PocketBeagle's 3.3V rail to a clean 5V output for the mini keyboard.</a:t>
            </a:r>
            <a:endParaRPr lang="en-US" sz="1050" dirty="0"/>
          </a:p>
          <a:p>
            <a:pPr marL="0" indent="0">
              <a:lnSpc>
                <a:spcPct val="112000"/>
              </a:lnSpc>
              <a:buNone/>
            </a:pPr>
            <a:endParaRPr lang="en-US" sz="1050" dirty="0"/>
          </a:p>
          <a:p>
            <a:pPr marL="0" indent="0">
              <a:lnSpc>
                <a:spcPct val="112000"/>
              </a:lnSpc>
              <a:buNone/>
            </a:pPr>
            <a:r>
              <a:rPr lang="en-US" sz="1050" dirty="0">
                <a:solidFill>
                  <a:srgbClr val="475569"/>
                </a:solidFill>
                <a:latin typeface="Calibri" pitchFamily="34" charset="0"/>
                <a:ea typeface="Calibri" pitchFamily="34" charset="-122"/>
                <a:cs typeface="Calibri" pitchFamily="34" charset="-120"/>
              </a:rPr>
              <a:t>A 2.2µH inductor (VLS252012ET-2R2M) stores energy during the switching cycle. The input is stabilized by a 10µF capacitor (C1), while three 10µF output capacitors (C2, C10, C11) smooth the 5V output and reduce ripple.</a:t>
            </a:r>
            <a:endParaRPr lang="en-US" sz="1050" dirty="0"/>
          </a:p>
          <a:p>
            <a:pPr marL="0" indent="0">
              <a:lnSpc>
                <a:spcPct val="112000"/>
              </a:lnSpc>
              <a:buNone/>
            </a:pPr>
            <a:endParaRPr lang="en-US" sz="1050" dirty="0"/>
          </a:p>
          <a:p>
            <a:pPr marL="0" indent="0">
              <a:lnSpc>
                <a:spcPct val="112000"/>
              </a:lnSpc>
              <a:buNone/>
            </a:pPr>
            <a:r>
              <a:rPr lang="en-US" sz="1050" dirty="0">
                <a:solidFill>
                  <a:srgbClr val="475569"/>
                </a:solidFill>
                <a:latin typeface="Calibri" pitchFamily="34" charset="0"/>
                <a:ea typeface="Calibri" pitchFamily="34" charset="-122"/>
                <a:cs typeface="Calibri" pitchFamily="34" charset="-120"/>
              </a:rPr>
              <a:t>The converter is labeled "Quieted" because of the generous output capacitance, which minimizes voltage ripple on the 5V rail. — important for stable I2C communication with the keyboard.</a:t>
            </a:r>
            <a:endParaRPr lang="en-US" sz="1050" dirty="0"/>
          </a:p>
        </p:txBody>
      </p:sp>
      <p:sp>
        <p:nvSpPr>
          <p:cNvPr id="7" name="Text 4"/>
          <p:cNvSpPr/>
          <p:nvPr/>
        </p:nvSpPr>
        <p:spPr>
          <a:xfrm>
            <a:off x="365760" y="3017520"/>
            <a:ext cx="2743200" cy="320040"/>
          </a:xfrm>
          <a:prstGeom prst="rect">
            <a:avLst/>
          </a:prstGeom>
          <a:noFill/>
          <a:ln/>
        </p:spPr>
        <p:txBody>
          <a:bodyPr wrap="square" lIns="0" tIns="0" rIns="0" bIns="0" rtlCol="0" anchor="ctr"/>
          <a:lstStyle/>
          <a:p>
            <a:pPr marL="0" indent="0">
              <a:buNone/>
            </a:pPr>
            <a:r>
              <a:rPr lang="en-US" sz="1600" b="1" dirty="0">
                <a:solidFill>
                  <a:srgbClr val="1A2744"/>
                </a:solidFill>
                <a:latin typeface="Trebuchet MS" pitchFamily="34" charset="0"/>
                <a:ea typeface="Trebuchet MS" pitchFamily="34" charset="-122"/>
                <a:cs typeface="Trebuchet MS" pitchFamily="34" charset="-120"/>
              </a:rPr>
              <a:t>Components</a:t>
            </a:r>
            <a:endParaRPr lang="en-US" sz="16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365760" y="3383280"/>
          <a:ext cx="8412480" cy="1298448"/>
        </p:xfrm>
        <a:graphic>
          <a:graphicData uri="http://schemas.openxmlformats.org/drawingml/2006/table">
            <a:tbl>
              <a:tblPr/>
              <a:tblGrid>
                <a:gridCol w="10972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274320">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Ref.</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27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Part Number</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27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27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Function</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256032">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U3</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TPS613222ADBVR</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Boost Converter IC</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1"/>
                  </a:ext>
                </a:extLst>
              </a:tr>
              <a:tr h="256032">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L1</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VLS252012ET-2R2M</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2.2µH</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Energy storage inductor</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2"/>
                  </a:ext>
                </a:extLst>
              </a:tr>
              <a:tr h="256032">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C1</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CL10A106KP8NNNC</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10µF</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Input decoupling capacitor</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3"/>
                  </a:ext>
                </a:extLst>
              </a:tr>
              <a:tr h="256032">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C2,C10,C11</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CL10A106KP8NNNC</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10µF</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Output smoothing capacitors</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Shape 0"/>
          <p:cNvSpPr/>
          <p:nvPr/>
        </p:nvSpPr>
        <p:spPr>
          <a:xfrm>
            <a:off x="0" y="0"/>
            <a:ext cx="9144000" cy="777240"/>
          </a:xfrm>
          <a:prstGeom prst="rect">
            <a:avLst/>
          </a:prstGeom>
          <a:solidFill>
            <a:srgbClr val="1A2744"/>
          </a:solidFill>
          <a:ln/>
        </p:spPr>
        <p:txBody>
          <a:bodyPr/>
          <a:lstStyle/>
          <a:p>
            <a:endParaRPr lang="en-US"/>
          </a:p>
        </p:txBody>
      </p:sp>
      <p:sp>
        <p:nvSpPr>
          <p:cNvPr id="3" name="Text 1"/>
          <p:cNvSpPr/>
          <p:nvPr/>
        </p:nvSpPr>
        <p:spPr>
          <a:xfrm>
            <a:off x="548640" y="91440"/>
            <a:ext cx="8229600" cy="594360"/>
          </a:xfrm>
          <a:prstGeom prst="rect">
            <a:avLst/>
          </a:prstGeom>
          <a:noFill/>
          <a:ln/>
        </p:spPr>
        <p:txBody>
          <a:bodyPr wrap="square" lIns="0" tIns="0" rIns="0" bIns="0" rtlCol="0" anchor="ctr"/>
          <a:lstStyle/>
          <a:p>
            <a:pPr marL="0" indent="0">
              <a:buNone/>
            </a:pPr>
            <a:r>
              <a:rPr lang="en-US" sz="2400" b="1" dirty="0">
                <a:solidFill>
                  <a:srgbClr val="FFFFFF"/>
                </a:solidFill>
                <a:latin typeface="Trebuchet MS" pitchFamily="34" charset="0"/>
                <a:ea typeface="Trebuchet MS" pitchFamily="34" charset="-122"/>
                <a:cs typeface="Trebuchet MS" pitchFamily="34" charset="-120"/>
              </a:rPr>
              <a:t>Subsystem — 3.3V to 5V Logic Level Shifter</a:t>
            </a:r>
            <a:endParaRPr lang="en-US" sz="2400" dirty="0"/>
          </a:p>
        </p:txBody>
      </p:sp>
      <p:pic>
        <p:nvPicPr>
          <p:cNvPr id="4" name="Image 0" descr="/home/claude/logic_level_shifter.png"/>
          <p:cNvPicPr>
            <a:picLocks noChangeAspect="1"/>
          </p:cNvPicPr>
          <p:nvPr/>
        </p:nvPicPr>
        <p:blipFill>
          <a:blip r:embed="rId3"/>
          <a:stretch>
            <a:fillRect/>
          </a:stretch>
        </p:blipFill>
        <p:spPr>
          <a:xfrm>
            <a:off x="457200" y="1097280"/>
            <a:ext cx="2743200" cy="2079757"/>
          </a:xfrm>
          <a:prstGeom prst="rect">
            <a:avLst/>
          </a:prstGeom>
        </p:spPr>
      </p:pic>
      <p:sp>
        <p:nvSpPr>
          <p:cNvPr id="5" name="Text 2"/>
          <p:cNvSpPr/>
          <p:nvPr/>
        </p:nvSpPr>
        <p:spPr>
          <a:xfrm>
            <a:off x="3657600" y="1005840"/>
            <a:ext cx="5029200" cy="320040"/>
          </a:xfrm>
          <a:prstGeom prst="rect">
            <a:avLst/>
          </a:prstGeom>
          <a:noFill/>
          <a:ln/>
        </p:spPr>
        <p:txBody>
          <a:bodyPr wrap="square" lIns="0" tIns="0" rIns="0" bIns="0" rtlCol="0" anchor="ctr"/>
          <a:lstStyle/>
          <a:p>
            <a:pPr marL="0" indent="0">
              <a:buNone/>
            </a:pPr>
            <a:r>
              <a:rPr lang="en-US" sz="1800" b="1" dirty="0">
                <a:solidFill>
                  <a:srgbClr val="1A2744"/>
                </a:solidFill>
                <a:latin typeface="Trebuchet MS" pitchFamily="34" charset="0"/>
                <a:ea typeface="Trebuchet MS" pitchFamily="34" charset="-122"/>
                <a:cs typeface="Trebuchet MS" pitchFamily="34" charset="-120"/>
              </a:rPr>
              <a:t>How It Works</a:t>
            </a:r>
            <a:endParaRPr lang="en-US" sz="1800" dirty="0"/>
          </a:p>
        </p:txBody>
      </p:sp>
      <p:sp>
        <p:nvSpPr>
          <p:cNvPr id="6" name="Text 3"/>
          <p:cNvSpPr/>
          <p:nvPr/>
        </p:nvSpPr>
        <p:spPr>
          <a:xfrm>
            <a:off x="3657600" y="1417320"/>
            <a:ext cx="5120640" cy="2560320"/>
          </a:xfrm>
          <a:prstGeom prst="rect">
            <a:avLst/>
          </a:prstGeom>
          <a:noFill/>
          <a:ln/>
        </p:spPr>
        <p:txBody>
          <a:bodyPr wrap="square" lIns="0" tIns="0" rIns="0" bIns="0" rtlCol="0" anchor="t"/>
          <a:lstStyle/>
          <a:p>
            <a:pPr marL="0" indent="0">
              <a:lnSpc>
                <a:spcPct val="112000"/>
              </a:lnSpc>
              <a:buNone/>
            </a:pPr>
            <a:r>
              <a:rPr lang="en-US" sz="1050" dirty="0">
                <a:solidFill>
                  <a:srgbClr val="475569"/>
                </a:solidFill>
                <a:latin typeface="Calibri" pitchFamily="34" charset="0"/>
                <a:ea typeface="Calibri" pitchFamily="34" charset="-122"/>
                <a:cs typeface="Calibri" pitchFamily="34" charset="-120"/>
              </a:rPr>
              <a:t>The PocketBeagle operates at 3.3V logic while the CardKB keyboard requires 5V I2C levels. This bidirectional level shifter uses two BSS138 N-channel MOSFETs — one per I2C line (SDA and SCL).</a:t>
            </a:r>
            <a:endParaRPr lang="en-US" sz="1050" dirty="0"/>
          </a:p>
          <a:p>
            <a:pPr marL="0" indent="0">
              <a:lnSpc>
                <a:spcPct val="112000"/>
              </a:lnSpc>
              <a:buNone/>
            </a:pPr>
            <a:endParaRPr lang="en-US" sz="1050" dirty="0"/>
          </a:p>
          <a:p>
            <a:pPr marL="0" indent="0">
              <a:lnSpc>
                <a:spcPct val="112000"/>
              </a:lnSpc>
              <a:buNone/>
            </a:pPr>
            <a:r>
              <a:rPr lang="en-US" sz="1050" dirty="0">
                <a:solidFill>
                  <a:srgbClr val="475569"/>
                </a:solidFill>
                <a:latin typeface="Calibri" pitchFamily="34" charset="0"/>
                <a:ea typeface="Calibri" pitchFamily="34" charset="-122"/>
                <a:cs typeface="Calibri" pitchFamily="34" charset="-120"/>
              </a:rPr>
              <a:t>Each channel has a 10kΩ pull-up resistor on both the low-voltage (3.3V) and high-voltage (5V) sides. When the low side drives LOW, the MOSFET turns on and pulls the high side LOW. When the high side drives LOW, the body diode pulls the source low, turning on the MOSFET and pulling the low side LOW. When neither side drives, pull-ups hold both sides HIGH at their respective voltage levels.</a:t>
            </a:r>
            <a:endParaRPr lang="en-US" sz="1050" dirty="0"/>
          </a:p>
          <a:p>
            <a:pPr marL="0" indent="0">
              <a:lnSpc>
                <a:spcPct val="112000"/>
              </a:lnSpc>
              <a:buNone/>
            </a:pPr>
            <a:endParaRPr lang="en-US" sz="1050" dirty="0"/>
          </a:p>
          <a:p>
            <a:pPr marL="0" indent="0">
              <a:lnSpc>
                <a:spcPct val="112000"/>
              </a:lnSpc>
              <a:buNone/>
            </a:pPr>
            <a:r>
              <a:rPr lang="en-US" sz="1050" dirty="0">
                <a:solidFill>
                  <a:srgbClr val="475569"/>
                </a:solidFill>
                <a:latin typeface="Calibri" pitchFamily="34" charset="0"/>
                <a:ea typeface="Calibri" pitchFamily="34" charset="-122"/>
                <a:cs typeface="Calibri" pitchFamily="34" charset="-120"/>
              </a:rPr>
              <a:t>This classic MOSFET-based design provides reliable, bidirectional voltage translation for I2C with minimal propagation delay.</a:t>
            </a:r>
            <a:endParaRPr lang="en-US" sz="1050" dirty="0"/>
          </a:p>
        </p:txBody>
      </p:sp>
      <p:sp>
        <p:nvSpPr>
          <p:cNvPr id="7" name="Text 4"/>
          <p:cNvSpPr/>
          <p:nvPr/>
        </p:nvSpPr>
        <p:spPr>
          <a:xfrm>
            <a:off x="365760" y="3566160"/>
            <a:ext cx="2743200" cy="274320"/>
          </a:xfrm>
          <a:prstGeom prst="rect">
            <a:avLst/>
          </a:prstGeom>
          <a:noFill/>
          <a:ln/>
        </p:spPr>
        <p:txBody>
          <a:bodyPr wrap="square" lIns="0" tIns="0" rIns="0" bIns="0" rtlCol="0" anchor="ctr"/>
          <a:lstStyle/>
          <a:p>
            <a:pPr marL="0" indent="0">
              <a:buNone/>
            </a:pPr>
            <a:r>
              <a:rPr lang="en-US" sz="1400" b="1" dirty="0">
                <a:solidFill>
                  <a:srgbClr val="1A2744"/>
                </a:solidFill>
                <a:latin typeface="Trebuchet MS" pitchFamily="34" charset="0"/>
                <a:ea typeface="Trebuchet MS" pitchFamily="34" charset="-122"/>
                <a:cs typeface="Trebuchet MS" pitchFamily="34" charset="-120"/>
              </a:rPr>
              <a:t>Components</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365760" y="3886200"/>
          <a:ext cx="8412480" cy="969264"/>
        </p:xfrm>
        <a:graphic>
          <a:graphicData uri="http://schemas.openxmlformats.org/drawingml/2006/table">
            <a:tbl>
              <a:tblPr/>
              <a:tblGrid>
                <a:gridCol w="9144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4297680">
                  <a:extLst>
                    <a:ext uri="{9D8B030D-6E8A-4147-A177-3AD203B41FA5}">
                      <a16:colId xmlns:a16="http://schemas.microsoft.com/office/drawing/2014/main" val="20003"/>
                    </a:ext>
                  </a:extLst>
                </a:gridCol>
              </a:tblGrid>
              <a:tr h="256032">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Ref.</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27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Part Number</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27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Value</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2744"/>
                    </a:solidFill>
                  </a:tcPr>
                </a:tc>
                <a:tc>
                  <a:txBody>
                    <a:bodyPr/>
                    <a:lstStyle/>
                    <a:p>
                      <a:pPr marL="0" indent="0">
                        <a:buNone/>
                      </a:pPr>
                      <a:r>
                        <a:rPr lang="en-US" sz="900" b="1" dirty="0">
                          <a:solidFill>
                            <a:srgbClr val="FFFFFF"/>
                          </a:solidFill>
                          <a:latin typeface="Calibri" pitchFamily="34" charset="0"/>
                          <a:ea typeface="Calibri" pitchFamily="34" charset="-122"/>
                          <a:cs typeface="Calibri" pitchFamily="34" charset="-120"/>
                        </a:rPr>
                        <a:t>Function</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solidFill>
                      <a:srgbClr val="1A2744"/>
                    </a:solidFill>
                  </a:tcPr>
                </a:tc>
                <a:extLst>
                  <a:ext uri="{0D108BD9-81ED-4DB2-BD59-A6C34878D82A}">
                    <a16:rowId xmlns:a16="http://schemas.microsoft.com/office/drawing/2014/main" val="10000"/>
                  </a:ext>
                </a:extLst>
              </a:tr>
              <a:tr h="237744">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Q5, Q7</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BSS138</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N-CH MOSFET level shift transistors</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R10, R12</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RC0603FR-0710KL</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10kΩ</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Low-side (3.3V) I2C pull-ups</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R11, R13</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RC0603FR-0710KL</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10kΩ</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tc>
                  <a:txBody>
                    <a:bodyPr/>
                    <a:lstStyle/>
                    <a:p>
                      <a:pPr marL="0" indent="0">
                        <a:buNone/>
                      </a:pPr>
                      <a:r>
                        <a:rPr lang="en-US" sz="900" dirty="0">
                          <a:solidFill>
                            <a:srgbClr val="475569"/>
                          </a:solidFill>
                          <a:latin typeface="Calibri" pitchFamily="34" charset="0"/>
                          <a:ea typeface="Calibri" pitchFamily="34" charset="-122"/>
                          <a:cs typeface="Calibri" pitchFamily="34" charset="-120"/>
                        </a:rPr>
                        <a:t>High-side (5V) I2C pull-ups</a:t>
                      </a:r>
                      <a:endParaRPr lang="en-US" sz="900" dirty="0">
                        <a:latin typeface="Calibri" charset="0"/>
                        <a:ea typeface="Calibri" charset="0"/>
                        <a:cs typeface="Calibri" charset="0"/>
                      </a:endParaRPr>
                    </a:p>
                  </a:txBody>
                  <a:tcPr>
                    <a:lnL w="6350" cap="flat" cmpd="sng" algn="ctr">
                      <a:solidFill>
                        <a:srgbClr val="94A3B8"/>
                      </a:solidFill>
                      <a:prstDash val="solid"/>
                      <a:round/>
                      <a:headEnd type="none" w="med" len="med"/>
                      <a:tailEnd type="none" w="med" len="med"/>
                    </a:lnL>
                    <a:lnR w="6350" cap="flat" cmpd="sng" algn="ctr">
                      <a:solidFill>
                        <a:srgbClr val="94A3B8"/>
                      </a:solidFill>
                      <a:prstDash val="solid"/>
                      <a:round/>
                      <a:headEnd type="none" w="med" len="med"/>
                      <a:tailEnd type="none" w="med" len="med"/>
                    </a:lnR>
                    <a:lnT w="6350" cap="flat" cmpd="sng" algn="ctr">
                      <a:solidFill>
                        <a:srgbClr val="94A3B8"/>
                      </a:solidFill>
                      <a:prstDash val="solid"/>
                      <a:round/>
                      <a:headEnd type="none" w="med" len="med"/>
                      <a:tailEnd type="none" w="med" len="med"/>
                    </a:lnT>
                    <a:lnB w="6350" cap="flat" cmpd="sng" algn="ctr">
                      <a:solidFill>
                        <a:srgbClr val="94A3B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Header Bar"/>
          <p:cNvSpPr/>
          <p:nvPr/>
        </p:nvSpPr>
        <p:spPr>
          <a:xfrm>
            <a:off x="0" y="0"/>
            <a:ext cx="9144000" cy="640080"/>
          </a:xfrm>
          <a:prstGeom prst="rect">
            <a:avLst/>
          </a:prstGeom>
          <a:solidFill>
            <a:srgbClr val="1A2744"/>
          </a:solidFill>
          <a:ln/>
        </p:spPr>
        <p:txBody>
          <a:bodyPr/>
          <a:lstStyle/>
          <a:p>
            <a:endParaRPr lang="en-US"/>
          </a:p>
        </p:txBody>
      </p:sp>
      <p:sp>
        <p:nvSpPr>
          <p:cNvPr id="3" name="Title"/>
          <p:cNvSpPr/>
          <p:nvPr/>
        </p:nvSpPr>
        <p:spPr>
          <a:xfrm>
            <a:off x="548640" y="91440"/>
            <a:ext cx="8046720" cy="457200"/>
          </a:xfrm>
          <a:prstGeom prst="rect">
            <a:avLst/>
          </a:prstGeom>
          <a:noFill/>
          <a:ln/>
        </p:spPr>
        <p:txBody>
          <a:bodyPr wrap="square" lIns="0" tIns="0" rIns="0" bIns="0" rtlCol="0" anchor="ctr"/>
          <a:lstStyle/>
          <a:p>
            <a:pPr marL="0" indent="0">
              <a:buNone/>
            </a:pPr>
            <a:r>
              <a:rPr lang="en-US" sz="2800" b="1" dirty="0">
                <a:solidFill>
                  <a:srgbClr val="FFFFFF"/>
                </a:solidFill>
                <a:latin typeface="Trebuchet MS" pitchFamily="34" charset="0"/>
              </a:rPr>
              <a:t>Bill of Materials — STIK-eNote V2</a:t>
            </a:r>
          </a:p>
        </p:txBody>
      </p:sp>
      <p:sp>
        <p:nvSpPr>
          <p:cNvPr id="50" name="TableHeaderBg"/>
          <p:cNvSpPr/>
          <p:nvPr/>
        </p:nvSpPr>
        <p:spPr>
          <a:xfrm>
            <a:off x="274320" y="685800"/>
            <a:ext cx="8594640" cy="274320"/>
          </a:xfrm>
          <a:prstGeom prst="rect">
            <a:avLst/>
          </a:prstGeom>
          <a:solidFill>
            <a:srgbClr val="1A2744"/>
          </a:solidFill>
          <a:ln/>
        </p:spPr>
        <p:txBody>
          <a:bodyPr/>
          <a:lstStyle/>
          <a:p>
            <a:endParaRPr lang="en-US"/>
          </a:p>
        </p:txBody>
      </p:sp>
      <p:sp>
        <p:nvSpPr>
          <p:cNvPr id="51" name="ColHdr_Ref"/>
          <p:cNvSpPr/>
          <p:nvPr/>
        </p:nvSpPr>
        <p:spPr>
          <a:xfrm>
            <a:off x="274320" y="685800"/>
            <a:ext cx="1066800" cy="274320"/>
          </a:xfrm>
          <a:prstGeom prst="rect">
            <a:avLst/>
          </a:prstGeom>
          <a:noFill/>
          <a:ln/>
        </p:spPr>
        <p:txBody>
          <a:bodyPr wrap="square" lIns="91440" tIns="0" rIns="0" bIns="0" rtlCol="0" anchor="ctr"/>
          <a:lstStyle/>
          <a:p>
            <a:pPr marL="0" indent="0">
              <a:buNone/>
            </a:pPr>
            <a:r>
              <a:rPr lang="en-US" sz="1000" b="1" dirty="0">
                <a:solidFill>
                  <a:srgbClr val="FFFFFF"/>
                </a:solidFill>
                <a:latin typeface="Calibri" pitchFamily="34" charset="0"/>
              </a:rPr>
              <a:t>Ref(s)</a:t>
            </a:r>
          </a:p>
        </p:txBody>
      </p:sp>
      <p:sp>
        <p:nvSpPr>
          <p:cNvPr id="52" name="ColHdr_Qty"/>
          <p:cNvSpPr/>
          <p:nvPr/>
        </p:nvSpPr>
        <p:spPr>
          <a:xfrm>
            <a:off x="1341120" y="685800"/>
            <a:ext cx="411480" cy="274320"/>
          </a:xfrm>
          <a:prstGeom prst="rect">
            <a:avLst/>
          </a:prstGeom>
          <a:noFill/>
          <a:ln/>
        </p:spPr>
        <p:txBody>
          <a:bodyPr wrap="square" lIns="91440" tIns="0" rIns="0" bIns="0" rtlCol="0" anchor="ctr"/>
          <a:lstStyle/>
          <a:p>
            <a:pPr marL="0" indent="0">
              <a:buNone/>
            </a:pPr>
            <a:r>
              <a:rPr lang="en-US" sz="1000" b="1" dirty="0">
                <a:solidFill>
                  <a:srgbClr val="FFFFFF"/>
                </a:solidFill>
                <a:latin typeface="Calibri" pitchFamily="34" charset="0"/>
              </a:rPr>
              <a:t>Qty</a:t>
            </a:r>
          </a:p>
        </p:txBody>
      </p:sp>
      <p:sp>
        <p:nvSpPr>
          <p:cNvPr id="53" name="ColHdr_MfgPN"/>
          <p:cNvSpPr/>
          <p:nvPr/>
        </p:nvSpPr>
        <p:spPr>
          <a:xfrm>
            <a:off x="1752600" y="685800"/>
            <a:ext cx="2194560" cy="274320"/>
          </a:xfrm>
          <a:prstGeom prst="rect">
            <a:avLst/>
          </a:prstGeom>
          <a:noFill/>
          <a:ln/>
        </p:spPr>
        <p:txBody>
          <a:bodyPr wrap="square" lIns="91440" tIns="0" rIns="0" bIns="0" rtlCol="0" anchor="ctr"/>
          <a:lstStyle/>
          <a:p>
            <a:pPr marL="0" indent="0">
              <a:buNone/>
            </a:pPr>
            <a:r>
              <a:rPr lang="en-US" sz="1000" b="1" dirty="0">
                <a:solidFill>
                  <a:srgbClr val="FFFFFF"/>
                </a:solidFill>
                <a:latin typeface="Calibri" pitchFamily="34" charset="0"/>
              </a:rPr>
              <a:t>Mfg P/N</a:t>
            </a:r>
          </a:p>
        </p:txBody>
      </p:sp>
      <p:sp>
        <p:nvSpPr>
          <p:cNvPr id="54" name="ColHdr_Desc"/>
          <p:cNvSpPr/>
          <p:nvPr/>
        </p:nvSpPr>
        <p:spPr>
          <a:xfrm>
            <a:off x="3947160" y="685800"/>
            <a:ext cx="4921800" cy="274320"/>
          </a:xfrm>
          <a:prstGeom prst="rect">
            <a:avLst/>
          </a:prstGeom>
          <a:noFill/>
          <a:ln/>
        </p:spPr>
        <p:txBody>
          <a:bodyPr wrap="square" lIns="91440" tIns="0" rIns="0" bIns="0" rtlCol="0" anchor="ctr"/>
          <a:lstStyle/>
          <a:p>
            <a:pPr marL="0" indent="0">
              <a:buNone/>
            </a:pPr>
            <a:r>
              <a:rPr lang="en-US" sz="1000" b="1" dirty="0">
                <a:solidFill>
                  <a:srgbClr val="FFFFFF"/>
                </a:solidFill>
                <a:latin typeface="Calibri" pitchFamily="34" charset="0"/>
              </a:rPr>
              <a:t>Description</a:t>
            </a:r>
          </a:p>
        </p:txBody>
      </p:sp>
      <p:sp>
        <p:nvSpPr>
          <p:cNvPr id="100" name="SH_Cap"/>
          <p:cNvSpPr/>
          <p:nvPr/>
        </p:nvSpPr>
        <p:spPr>
          <a:xfrm>
            <a:off x="274320" y="960120"/>
            <a:ext cx="8594640" cy="228600"/>
          </a:xfrm>
          <a:prstGeom prst="rect">
            <a:avLst/>
          </a:prstGeom>
          <a:solidFill>
            <a:srgbClr val="DBEAFE"/>
          </a:solidFill>
          <a:ln/>
        </p:spPr>
        <p:txBody>
          <a:bodyPr wrap="square" lIns="91440" tIns="0" rIns="0" bIns="0" rtlCol="0" anchor="ctr"/>
          <a:lstStyle/>
          <a:p>
            <a:pPr marL="0" indent="0">
              <a:buNone/>
            </a:pPr>
            <a:r>
              <a:rPr lang="en-US" sz="900" b="1" dirty="0">
                <a:solidFill>
                  <a:srgbClr val="1E3A5F"/>
                </a:solidFill>
                <a:latin typeface="Calibri" pitchFamily="34" charset="0"/>
              </a:rPr>
              <a:t>CAPACITORS</a:t>
            </a:r>
          </a:p>
        </p:txBody>
      </p:sp>
      <p:sp>
        <p:nvSpPr>
          <p:cNvPr id="101" name="r1c1"/>
          <p:cNvSpPr/>
          <p:nvPr/>
        </p:nvSpPr>
        <p:spPr>
          <a:xfrm>
            <a:off x="274320" y="1188720"/>
            <a:ext cx="1066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C1,C2,C10,C11</a:t>
            </a:r>
          </a:p>
        </p:txBody>
      </p:sp>
      <p:sp>
        <p:nvSpPr>
          <p:cNvPr id="102" name="r1c2"/>
          <p:cNvSpPr/>
          <p:nvPr/>
        </p:nvSpPr>
        <p:spPr>
          <a:xfrm>
            <a:off x="1341120" y="1188720"/>
            <a:ext cx="41148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4</a:t>
            </a:r>
          </a:p>
        </p:txBody>
      </p:sp>
      <p:sp>
        <p:nvSpPr>
          <p:cNvPr id="103" name="r1c3"/>
          <p:cNvSpPr/>
          <p:nvPr/>
        </p:nvSpPr>
        <p:spPr>
          <a:xfrm>
            <a:off x="1752600" y="1188720"/>
            <a:ext cx="219456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CL10A106KP8NNNC</a:t>
            </a:r>
          </a:p>
        </p:txBody>
      </p:sp>
      <p:sp>
        <p:nvSpPr>
          <p:cNvPr id="104" name="r1c4"/>
          <p:cNvSpPr/>
          <p:nvPr/>
        </p:nvSpPr>
        <p:spPr>
          <a:xfrm>
            <a:off x="3947160" y="1188720"/>
            <a:ext cx="4921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CAP CER 10uF 10V X5R 0603</a:t>
            </a:r>
          </a:p>
        </p:txBody>
      </p:sp>
      <p:sp>
        <p:nvSpPr>
          <p:cNvPr id="111" name="r2c1"/>
          <p:cNvSpPr/>
          <p:nvPr/>
        </p:nvSpPr>
        <p:spPr>
          <a:xfrm>
            <a:off x="274320" y="1417320"/>
            <a:ext cx="106680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C3,C4,C6,C9,C12</a:t>
            </a:r>
          </a:p>
        </p:txBody>
      </p:sp>
      <p:sp>
        <p:nvSpPr>
          <p:cNvPr id="112" name="r2c2"/>
          <p:cNvSpPr/>
          <p:nvPr/>
        </p:nvSpPr>
        <p:spPr>
          <a:xfrm>
            <a:off x="1341120" y="1417320"/>
            <a:ext cx="41148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5</a:t>
            </a:r>
          </a:p>
        </p:txBody>
      </p:sp>
      <p:sp>
        <p:nvSpPr>
          <p:cNvPr id="113" name="r2c3"/>
          <p:cNvSpPr/>
          <p:nvPr/>
        </p:nvSpPr>
        <p:spPr>
          <a:xfrm>
            <a:off x="1752600" y="1417320"/>
            <a:ext cx="219456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CL10B105KA8NNNC</a:t>
            </a:r>
          </a:p>
        </p:txBody>
      </p:sp>
      <p:sp>
        <p:nvSpPr>
          <p:cNvPr id="114" name="r2c4"/>
          <p:cNvSpPr/>
          <p:nvPr/>
        </p:nvSpPr>
        <p:spPr>
          <a:xfrm>
            <a:off x="3947160" y="1417320"/>
            <a:ext cx="492180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CAP CER 1uF 25V X7R 0603</a:t>
            </a:r>
          </a:p>
        </p:txBody>
      </p:sp>
      <p:sp>
        <p:nvSpPr>
          <p:cNvPr id="121" name="r3c1"/>
          <p:cNvSpPr/>
          <p:nvPr/>
        </p:nvSpPr>
        <p:spPr>
          <a:xfrm>
            <a:off x="274320" y="1645920"/>
            <a:ext cx="1066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C5 / C7</a:t>
            </a:r>
          </a:p>
        </p:txBody>
      </p:sp>
      <p:sp>
        <p:nvSpPr>
          <p:cNvPr id="122" name="r3c2"/>
          <p:cNvSpPr/>
          <p:nvPr/>
        </p:nvSpPr>
        <p:spPr>
          <a:xfrm>
            <a:off x="1341120" y="1645920"/>
            <a:ext cx="41148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1 ea</a:t>
            </a:r>
          </a:p>
        </p:txBody>
      </p:sp>
      <p:sp>
        <p:nvSpPr>
          <p:cNvPr id="123" name="r3c3"/>
          <p:cNvSpPr/>
          <p:nvPr/>
        </p:nvSpPr>
        <p:spPr>
          <a:xfrm>
            <a:off x="1752600" y="1645920"/>
            <a:ext cx="219456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GRM188R61E475KE11D / CC0603KRX7R9BB104</a:t>
            </a:r>
          </a:p>
        </p:txBody>
      </p:sp>
      <p:sp>
        <p:nvSpPr>
          <p:cNvPr id="124" name="r3c4"/>
          <p:cNvSpPr/>
          <p:nvPr/>
        </p:nvSpPr>
        <p:spPr>
          <a:xfrm>
            <a:off x="3947160" y="1645920"/>
            <a:ext cx="4921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CAP CER 4.7uF 25V 0603 / CAP CER 0.1uF 50V 0603</a:t>
            </a:r>
          </a:p>
        </p:txBody>
      </p:sp>
      <p:sp>
        <p:nvSpPr>
          <p:cNvPr id="200" name="SH_Res"/>
          <p:cNvSpPr/>
          <p:nvPr/>
        </p:nvSpPr>
        <p:spPr>
          <a:xfrm>
            <a:off x="274320" y="1920240"/>
            <a:ext cx="8594640" cy="228600"/>
          </a:xfrm>
          <a:prstGeom prst="rect">
            <a:avLst/>
          </a:prstGeom>
          <a:solidFill>
            <a:srgbClr val="DBEAFE"/>
          </a:solidFill>
          <a:ln/>
        </p:spPr>
        <p:txBody>
          <a:bodyPr wrap="square" lIns="91440" tIns="0" rIns="0" bIns="0" rtlCol="0" anchor="ctr"/>
          <a:lstStyle/>
          <a:p>
            <a:pPr marL="0" indent="0">
              <a:buNone/>
            </a:pPr>
            <a:r>
              <a:rPr lang="en-US" sz="900" b="1" dirty="0">
                <a:solidFill>
                  <a:srgbClr val="1E3A5F"/>
                </a:solidFill>
                <a:latin typeface="Calibri" pitchFamily="34" charset="0"/>
              </a:rPr>
              <a:t>RESISTORS</a:t>
            </a:r>
          </a:p>
        </p:txBody>
      </p:sp>
      <p:sp>
        <p:nvSpPr>
          <p:cNvPr id="201" name="rr1c1"/>
          <p:cNvSpPr/>
          <p:nvPr/>
        </p:nvSpPr>
        <p:spPr>
          <a:xfrm>
            <a:off x="274320" y="2148840"/>
            <a:ext cx="1066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R1-R5,R9,R17</a:t>
            </a:r>
          </a:p>
        </p:txBody>
      </p:sp>
      <p:sp>
        <p:nvSpPr>
          <p:cNvPr id="202" name="rr1c2"/>
          <p:cNvSpPr/>
          <p:nvPr/>
        </p:nvSpPr>
        <p:spPr>
          <a:xfrm>
            <a:off x="1341120" y="2148840"/>
            <a:ext cx="41148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7</a:t>
            </a:r>
          </a:p>
        </p:txBody>
      </p:sp>
      <p:sp>
        <p:nvSpPr>
          <p:cNvPr id="203" name="rr1c3"/>
          <p:cNvSpPr/>
          <p:nvPr/>
        </p:nvSpPr>
        <p:spPr>
          <a:xfrm>
            <a:off x="1752600" y="2148840"/>
            <a:ext cx="219456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RC0603FR-071KL</a:t>
            </a:r>
          </a:p>
        </p:txBody>
      </p:sp>
      <p:sp>
        <p:nvSpPr>
          <p:cNvPr id="204" name="rr1c4"/>
          <p:cNvSpPr/>
          <p:nvPr/>
        </p:nvSpPr>
        <p:spPr>
          <a:xfrm>
            <a:off x="3947160" y="2148840"/>
            <a:ext cx="4921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RES 1K OHM 1% 1/10W 0603</a:t>
            </a:r>
          </a:p>
        </p:txBody>
      </p:sp>
      <p:sp>
        <p:nvSpPr>
          <p:cNvPr id="211" name="rr2c1"/>
          <p:cNvSpPr/>
          <p:nvPr/>
        </p:nvSpPr>
        <p:spPr>
          <a:xfrm>
            <a:off x="274320" y="2377440"/>
            <a:ext cx="106680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R6, R8</a:t>
            </a:r>
          </a:p>
        </p:txBody>
      </p:sp>
      <p:sp>
        <p:nvSpPr>
          <p:cNvPr id="212" name="rr2c2"/>
          <p:cNvSpPr/>
          <p:nvPr/>
        </p:nvSpPr>
        <p:spPr>
          <a:xfrm>
            <a:off x="1341120" y="2377440"/>
            <a:ext cx="41148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2</a:t>
            </a:r>
          </a:p>
        </p:txBody>
      </p:sp>
      <p:sp>
        <p:nvSpPr>
          <p:cNvPr id="213" name="rr2c3"/>
          <p:cNvSpPr/>
          <p:nvPr/>
        </p:nvSpPr>
        <p:spPr>
          <a:xfrm>
            <a:off x="1752600" y="2377440"/>
            <a:ext cx="219456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RC0603FR-075K1L</a:t>
            </a:r>
          </a:p>
        </p:txBody>
      </p:sp>
      <p:sp>
        <p:nvSpPr>
          <p:cNvPr id="214" name="rr2c4"/>
          <p:cNvSpPr/>
          <p:nvPr/>
        </p:nvSpPr>
        <p:spPr>
          <a:xfrm>
            <a:off x="3947160" y="2377440"/>
            <a:ext cx="492180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RES 5.1K OHM 1% 1/10W 0603</a:t>
            </a:r>
          </a:p>
        </p:txBody>
      </p:sp>
      <p:sp>
        <p:nvSpPr>
          <p:cNvPr id="221" name="rr3c1"/>
          <p:cNvSpPr/>
          <p:nvPr/>
        </p:nvSpPr>
        <p:spPr>
          <a:xfrm>
            <a:off x="274320" y="2606040"/>
            <a:ext cx="1066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R10-R13</a:t>
            </a:r>
          </a:p>
        </p:txBody>
      </p:sp>
      <p:sp>
        <p:nvSpPr>
          <p:cNvPr id="222" name="rr3c2"/>
          <p:cNvSpPr/>
          <p:nvPr/>
        </p:nvSpPr>
        <p:spPr>
          <a:xfrm>
            <a:off x="1341120" y="2606040"/>
            <a:ext cx="41148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4</a:t>
            </a:r>
          </a:p>
        </p:txBody>
      </p:sp>
      <p:sp>
        <p:nvSpPr>
          <p:cNvPr id="223" name="rr3c3"/>
          <p:cNvSpPr/>
          <p:nvPr/>
        </p:nvSpPr>
        <p:spPr>
          <a:xfrm>
            <a:off x="1752600" y="2606040"/>
            <a:ext cx="219456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RC0603FR-0710KL</a:t>
            </a:r>
          </a:p>
        </p:txBody>
      </p:sp>
      <p:sp>
        <p:nvSpPr>
          <p:cNvPr id="224" name="rr3c4"/>
          <p:cNvSpPr/>
          <p:nvPr/>
        </p:nvSpPr>
        <p:spPr>
          <a:xfrm>
            <a:off x="3947160" y="2606040"/>
            <a:ext cx="4921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RES 10K OHM 1% 1/10W 0603</a:t>
            </a:r>
          </a:p>
        </p:txBody>
      </p:sp>
      <p:sp>
        <p:nvSpPr>
          <p:cNvPr id="231" name="rr4c1"/>
          <p:cNvSpPr/>
          <p:nvPr/>
        </p:nvSpPr>
        <p:spPr>
          <a:xfrm>
            <a:off x="274320" y="2834640"/>
            <a:ext cx="106680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R16</a:t>
            </a:r>
          </a:p>
        </p:txBody>
      </p:sp>
      <p:sp>
        <p:nvSpPr>
          <p:cNvPr id="232" name="rr4c2"/>
          <p:cNvSpPr/>
          <p:nvPr/>
        </p:nvSpPr>
        <p:spPr>
          <a:xfrm>
            <a:off x="1341120" y="2834640"/>
            <a:ext cx="41148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1</a:t>
            </a:r>
          </a:p>
        </p:txBody>
      </p:sp>
      <p:sp>
        <p:nvSpPr>
          <p:cNvPr id="233" name="rr4c3"/>
          <p:cNvSpPr/>
          <p:nvPr/>
        </p:nvSpPr>
        <p:spPr>
          <a:xfrm>
            <a:off x="1752600" y="2834640"/>
            <a:ext cx="219456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RC0603FR-07100KL</a:t>
            </a:r>
          </a:p>
        </p:txBody>
      </p:sp>
      <p:sp>
        <p:nvSpPr>
          <p:cNvPr id="234" name="rr4c4"/>
          <p:cNvSpPr/>
          <p:nvPr/>
        </p:nvSpPr>
        <p:spPr>
          <a:xfrm>
            <a:off x="3947160" y="2834640"/>
            <a:ext cx="492180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RES 100K OHM 1% 1/10W 0603</a:t>
            </a:r>
          </a:p>
        </p:txBody>
      </p:sp>
      <p:sp>
        <p:nvSpPr>
          <p:cNvPr id="300" name="SH_IC"/>
          <p:cNvSpPr/>
          <p:nvPr/>
        </p:nvSpPr>
        <p:spPr>
          <a:xfrm>
            <a:off x="274320" y="3063240"/>
            <a:ext cx="8594640" cy="228600"/>
          </a:xfrm>
          <a:prstGeom prst="rect">
            <a:avLst/>
          </a:prstGeom>
          <a:solidFill>
            <a:srgbClr val="DBEAFE"/>
          </a:solidFill>
          <a:ln/>
        </p:spPr>
        <p:txBody>
          <a:bodyPr wrap="square" lIns="91440" tIns="0" rIns="0" bIns="0" rtlCol="0" anchor="ctr"/>
          <a:lstStyle/>
          <a:p>
            <a:pPr marL="0" indent="0">
              <a:buNone/>
            </a:pPr>
            <a:r>
              <a:rPr lang="en-US" sz="900" b="1" dirty="0">
                <a:solidFill>
                  <a:srgbClr val="1E3A5F"/>
                </a:solidFill>
                <a:latin typeface="Calibri" pitchFamily="34" charset="0"/>
              </a:rPr>
              <a:t>ICs, MODULES &amp; PASSIVES (Inductors, Diodes, Transistors)</a:t>
            </a:r>
          </a:p>
        </p:txBody>
      </p:sp>
      <p:sp>
        <p:nvSpPr>
          <p:cNvPr id="301" name="ic1c1"/>
          <p:cNvSpPr/>
          <p:nvPr/>
        </p:nvSpPr>
        <p:spPr>
          <a:xfrm>
            <a:off x="274320" y="3291840"/>
            <a:ext cx="1066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L1</a:t>
            </a:r>
          </a:p>
        </p:txBody>
      </p:sp>
      <p:sp>
        <p:nvSpPr>
          <p:cNvPr id="302" name="ic1c2"/>
          <p:cNvSpPr/>
          <p:nvPr/>
        </p:nvSpPr>
        <p:spPr>
          <a:xfrm>
            <a:off x="1341120" y="3291840"/>
            <a:ext cx="41148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1</a:t>
            </a:r>
          </a:p>
        </p:txBody>
      </p:sp>
      <p:sp>
        <p:nvSpPr>
          <p:cNvPr id="303" name="ic1c3"/>
          <p:cNvSpPr/>
          <p:nvPr/>
        </p:nvSpPr>
        <p:spPr>
          <a:xfrm>
            <a:off x="1752600" y="3291840"/>
            <a:ext cx="219456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VLS252012ET-2R2M</a:t>
            </a:r>
          </a:p>
        </p:txBody>
      </p:sp>
      <p:sp>
        <p:nvSpPr>
          <p:cNvPr id="304" name="ic1c4"/>
          <p:cNvSpPr/>
          <p:nvPr/>
        </p:nvSpPr>
        <p:spPr>
          <a:xfrm>
            <a:off x="3947160" y="3291840"/>
            <a:ext cx="4921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FIXED IND 2.2uH 1.3A 154mOHM (Boost)</a:t>
            </a:r>
          </a:p>
        </p:txBody>
      </p:sp>
      <p:sp>
        <p:nvSpPr>
          <p:cNvPr id="311" name="ic2c1"/>
          <p:cNvSpPr/>
          <p:nvPr/>
        </p:nvSpPr>
        <p:spPr>
          <a:xfrm>
            <a:off x="274320" y="3520440"/>
            <a:ext cx="106680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D1 / D2 / D3</a:t>
            </a:r>
          </a:p>
        </p:txBody>
      </p:sp>
      <p:sp>
        <p:nvSpPr>
          <p:cNvPr id="312" name="ic2c2"/>
          <p:cNvSpPr/>
          <p:nvPr/>
        </p:nvSpPr>
        <p:spPr>
          <a:xfrm>
            <a:off x="1341120" y="3520440"/>
            <a:ext cx="41148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1 ea</a:t>
            </a:r>
          </a:p>
        </p:txBody>
      </p:sp>
      <p:sp>
        <p:nvSpPr>
          <p:cNvPr id="313" name="ic2c3"/>
          <p:cNvSpPr/>
          <p:nvPr/>
        </p:nvSpPr>
        <p:spPr>
          <a:xfrm>
            <a:off x="1752600" y="3520440"/>
            <a:ext cx="219456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BAT41ZFILM / LTST-C191KRKT / LTST-C191KGKT</a:t>
            </a:r>
          </a:p>
        </p:txBody>
      </p:sp>
      <p:sp>
        <p:nvSpPr>
          <p:cNvPr id="314" name="ic2c4"/>
          <p:cNvSpPr/>
          <p:nvPr/>
        </p:nvSpPr>
        <p:spPr>
          <a:xfrm>
            <a:off x="3947160" y="3520440"/>
            <a:ext cx="492180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Schottky 100V SOD-123 / LED Red 0603 / LED Green 0603</a:t>
            </a:r>
          </a:p>
        </p:txBody>
      </p:sp>
      <p:sp>
        <p:nvSpPr>
          <p:cNvPr id="321" name="ic3c1"/>
          <p:cNvSpPr/>
          <p:nvPr/>
        </p:nvSpPr>
        <p:spPr>
          <a:xfrm>
            <a:off x="274320" y="3749040"/>
            <a:ext cx="1066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Q5, Q7</a:t>
            </a:r>
          </a:p>
        </p:txBody>
      </p:sp>
      <p:sp>
        <p:nvSpPr>
          <p:cNvPr id="322" name="ic3c2"/>
          <p:cNvSpPr/>
          <p:nvPr/>
        </p:nvSpPr>
        <p:spPr>
          <a:xfrm>
            <a:off x="1341120" y="3749040"/>
            <a:ext cx="41148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2</a:t>
            </a:r>
          </a:p>
        </p:txBody>
      </p:sp>
      <p:sp>
        <p:nvSpPr>
          <p:cNvPr id="323" name="ic3c3"/>
          <p:cNvSpPr/>
          <p:nvPr/>
        </p:nvSpPr>
        <p:spPr>
          <a:xfrm>
            <a:off x="1752600" y="3749040"/>
            <a:ext cx="219456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BSS138</a:t>
            </a:r>
          </a:p>
        </p:txBody>
      </p:sp>
      <p:sp>
        <p:nvSpPr>
          <p:cNvPr id="324" name="ic3c4"/>
          <p:cNvSpPr/>
          <p:nvPr/>
        </p:nvSpPr>
        <p:spPr>
          <a:xfrm>
            <a:off x="3947160" y="3749040"/>
            <a:ext cx="4921800" cy="228600"/>
          </a:xfrm>
          <a:prstGeom prst="rect">
            <a:avLst/>
          </a:prstGeom>
          <a:noFill/>
          <a:ln/>
        </p:spPr>
        <p:txBody>
          <a:bodyPr wrap="square" lIns="91440" tIns="36576" rIns="0" bIns="0" rtlCol="0" anchor="ctr"/>
          <a:lstStyle/>
          <a:p>
            <a:pPr marL="0" indent="0">
              <a:buNone/>
            </a:pPr>
            <a:r>
              <a:rPr lang="en-US" sz="900" dirty="0">
                <a:solidFill>
                  <a:srgbClr val="1E293B"/>
                </a:solidFill>
                <a:latin typeface="Calibri" pitchFamily="34" charset="0"/>
              </a:rPr>
              <a:t>MOSFET N-CH 50V 220mA SOT23 (I2C Level Shifter)</a:t>
            </a:r>
          </a:p>
        </p:txBody>
      </p:sp>
      <p:sp>
        <p:nvSpPr>
          <p:cNvPr id="331" name="ic4c1"/>
          <p:cNvSpPr/>
          <p:nvPr/>
        </p:nvSpPr>
        <p:spPr>
          <a:xfrm>
            <a:off x="274320" y="3977640"/>
            <a:ext cx="106680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U1</a:t>
            </a:r>
          </a:p>
        </p:txBody>
      </p:sp>
      <p:sp>
        <p:nvSpPr>
          <p:cNvPr id="332" name="ic4c2"/>
          <p:cNvSpPr/>
          <p:nvPr/>
        </p:nvSpPr>
        <p:spPr>
          <a:xfrm>
            <a:off x="1341120" y="3977640"/>
            <a:ext cx="41148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1</a:t>
            </a:r>
          </a:p>
        </p:txBody>
      </p:sp>
      <p:sp>
        <p:nvSpPr>
          <p:cNvPr id="333" name="ic4c3"/>
          <p:cNvSpPr/>
          <p:nvPr/>
        </p:nvSpPr>
        <p:spPr>
          <a:xfrm>
            <a:off x="1752600" y="3977640"/>
            <a:ext cx="219456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TPB4056A20-ES1R</a:t>
            </a:r>
          </a:p>
        </p:txBody>
      </p:sp>
      <p:sp>
        <p:nvSpPr>
          <p:cNvPr id="334" name="ic4c4"/>
          <p:cNvSpPr/>
          <p:nvPr/>
        </p:nvSpPr>
        <p:spPr>
          <a:xfrm>
            <a:off x="3947160" y="3977640"/>
            <a:ext cx="4921800" cy="228600"/>
          </a:xfrm>
          <a:prstGeom prst="rect">
            <a:avLst/>
          </a:prstGeom>
          <a:solidFill>
            <a:srgbClr val="F1F5F9"/>
          </a:solidFill>
          <a:ln/>
        </p:spPr>
        <p:txBody>
          <a:bodyPr wrap="square" lIns="91440" tIns="36576" rIns="0" bIns="0" rtlCol="0" anchor="ctr"/>
          <a:lstStyle/>
          <a:p>
            <a:pPr marL="0" indent="0">
              <a:buNone/>
            </a:pPr>
            <a:r>
              <a:rPr lang="en-US" sz="900" dirty="0">
                <a:solidFill>
                  <a:srgbClr val="1E293B"/>
                </a:solidFill>
                <a:latin typeface="Calibri" pitchFamily="34" charset="0"/>
              </a:rPr>
              <a:t>LINEAR BATTERY CHARGER 1-CELL 8-ESOP (LiPo Charger)</a:t>
            </a:r>
          </a:p>
        </p:txBody>
      </p:sp>
      <p:sp>
        <p:nvSpPr>
          <p:cNvPr id="341" name="ic5c1"/>
          <p:cNvSpPr/>
          <p:nvPr/>
        </p:nvSpPr>
        <p:spPr>
          <a:xfrm>
            <a:off x="274320" y="4206240"/>
            <a:ext cx="1066800" cy="274320"/>
          </a:xfrm>
          <a:prstGeom prst="rect">
            <a:avLst/>
          </a:prstGeom>
          <a:noFill/>
          <a:ln/>
        </p:spPr>
        <p:txBody>
          <a:bodyPr wrap="square" lIns="91440" tIns="36576" rIns="0" bIns="0" rtlCol="0" anchor="t"/>
          <a:lstStyle/>
          <a:p>
            <a:pPr marL="0" indent="0">
              <a:buNone/>
            </a:pPr>
            <a:r>
              <a:rPr lang="en-US" sz="900" dirty="0">
                <a:solidFill>
                  <a:srgbClr val="1E293B"/>
                </a:solidFill>
                <a:latin typeface="Calibri" pitchFamily="34" charset="0"/>
              </a:rPr>
              <a:t>U2 / U3 / U5 / U6</a:t>
            </a:r>
          </a:p>
        </p:txBody>
      </p:sp>
      <p:sp>
        <p:nvSpPr>
          <p:cNvPr id="342" name="ic5c2"/>
          <p:cNvSpPr/>
          <p:nvPr/>
        </p:nvSpPr>
        <p:spPr>
          <a:xfrm>
            <a:off x="1341120" y="4206240"/>
            <a:ext cx="411480" cy="274320"/>
          </a:xfrm>
          <a:prstGeom prst="rect">
            <a:avLst/>
          </a:prstGeom>
          <a:noFill/>
          <a:ln/>
        </p:spPr>
        <p:txBody>
          <a:bodyPr wrap="square" lIns="91440" tIns="36576" rIns="0" bIns="0" rtlCol="0" anchor="t"/>
          <a:lstStyle/>
          <a:p>
            <a:pPr marL="0" indent="0">
              <a:buNone/>
            </a:pPr>
            <a:r>
              <a:rPr lang="en-US" sz="900" dirty="0">
                <a:solidFill>
                  <a:srgbClr val="1E293B"/>
                </a:solidFill>
                <a:latin typeface="Calibri" pitchFamily="34" charset="0"/>
              </a:rPr>
              <a:t>1 ea</a:t>
            </a:r>
          </a:p>
        </p:txBody>
      </p:sp>
      <p:sp>
        <p:nvSpPr>
          <p:cNvPr id="343" name="ic5c3"/>
          <p:cNvSpPr/>
          <p:nvPr/>
        </p:nvSpPr>
        <p:spPr>
          <a:xfrm>
            <a:off x="1752600" y="4206240"/>
            <a:ext cx="2194560" cy="274320"/>
          </a:xfrm>
          <a:prstGeom prst="rect">
            <a:avLst/>
          </a:prstGeom>
          <a:noFill/>
          <a:ln/>
        </p:spPr>
        <p:txBody>
          <a:bodyPr wrap="square" lIns="91440" tIns="36576" rIns="0" bIns="0" rtlCol="0" anchor="t"/>
          <a:lstStyle/>
          <a:p>
            <a:pPr marL="0" indent="0">
              <a:buNone/>
            </a:pPr>
            <a:r>
              <a:rPr lang="en-US" sz="900" dirty="0">
                <a:solidFill>
                  <a:srgbClr val="1E293B"/>
                </a:solidFill>
                <a:latin typeface="Calibri" pitchFamily="34" charset="0"/>
              </a:rPr>
              <a:t>DRV5032FADBZR / TPS613222ADBVR / XC6206P332MR-G / ESP32-S3-WROOM-1-N16R8</a:t>
            </a:r>
          </a:p>
        </p:txBody>
      </p:sp>
      <p:sp>
        <p:nvSpPr>
          <p:cNvPr id="344" name="ic5c4"/>
          <p:cNvSpPr/>
          <p:nvPr/>
        </p:nvSpPr>
        <p:spPr>
          <a:xfrm>
            <a:off x="3947160" y="4206240"/>
            <a:ext cx="4921800" cy="274320"/>
          </a:xfrm>
          <a:prstGeom prst="rect">
            <a:avLst/>
          </a:prstGeom>
          <a:noFill/>
          <a:ln/>
        </p:spPr>
        <p:txBody>
          <a:bodyPr wrap="square" lIns="91440" tIns="36576" rIns="0" bIns="0" rtlCol="0" anchor="t"/>
          <a:lstStyle/>
          <a:p>
            <a:pPr marL="0" indent="0">
              <a:buNone/>
            </a:pPr>
            <a:r>
              <a:rPr lang="en-US" sz="900" dirty="0">
                <a:solidFill>
                  <a:srgbClr val="1E293B"/>
                </a:solidFill>
                <a:latin typeface="Calibri" pitchFamily="34" charset="0"/>
              </a:rPr>
              <a:t>Hall Effect Switch / Boost 5V SOT23-5 / LDO 3.3V SOT23 / ESP32-S3 Wi-Fi BT Module</a:t>
            </a:r>
          </a:p>
        </p:txBody>
      </p:sp>
      <p:sp>
        <p:nvSpPr>
          <p:cNvPr id="400" name="ExtModulesNote"/>
          <p:cNvSpPr/>
          <p:nvPr/>
        </p:nvSpPr>
        <p:spPr>
          <a:xfrm>
            <a:off x="274320" y="4678680"/>
            <a:ext cx="8594640" cy="373380"/>
          </a:xfrm>
          <a:prstGeom prst="rect">
            <a:avLst/>
          </a:prstGeom>
          <a:solidFill>
            <a:srgbClr val="1A2744"/>
          </a:solidFill>
          <a:ln/>
        </p:spPr>
        <p:txBody>
          <a:bodyPr wrap="square" lIns="91440" tIns="45720" rIns="0" bIns="0" rtlCol="0" anchor="ctr"/>
          <a:lstStyle/>
          <a:p>
            <a:pPr marL="0" indent="0">
              <a:buNone/>
            </a:pPr>
            <a:r>
              <a:rPr lang="en-US" sz="900" b="1" dirty="0">
                <a:solidFill>
                  <a:srgbClr val="CADCFC"/>
                </a:solidFill>
                <a:latin typeface="Calibri" pitchFamily="34" charset="0"/>
              </a:rPr>
              <a:t>External Modules (non-DigiKey): </a:t>
            </a:r>
            <a:r>
              <a:rPr lang="en-US" sz="900" dirty="0">
                <a:solidFill>
                  <a:srgbClr val="FFFFFF"/>
                </a:solidFill>
                <a:latin typeface="Calibri" pitchFamily="34" charset="0"/>
              </a:rPr>
              <a:t>U_LCD — ST7735S 1.8” 128x160 SPI LCD (Amazon B0F1C8X7D8)  |  U_EPD — GDEY0213B74 ePaper + Adapter (AliExpress)  |  U_KB — M5Stack CardKB v1.1 I2C Keyboard (M5Stack SKU U035-B)  |  J1 — LiPo Connector (custom)  |  SW1, SW2 — Membrane Buttons (AliExpress)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281</TotalTime>
  <Words>967</Words>
  <Application>Microsoft Office PowerPoint</Application>
  <PresentationFormat>On-screen Show (16:9)</PresentationFormat>
  <Paragraphs>142</Paragraphs>
  <Slides>7</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7</vt:i4>
      </vt:variant>
    </vt:vector>
  </HeadingPairs>
  <TitlesOfParts>
    <vt:vector size="11" baseType="lpstr">
      <vt:lpstr>Arial</vt:lpstr>
      <vt:lpstr>Calibri</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STIK-eNote Project Proposal</dc:title>
  <dc:subject>PptxGenJS Presentation</dc:subject>
  <dc:creator>Beckett Lyons Mazzeu</dc:creator>
  <cp:lastModifiedBy>Beckett Lyons</cp:lastModifiedBy>
  <cp:revision>5</cp:revision>
  <dcterms:created xsi:type="dcterms:W3CDTF">2026-02-23T04:07:49Z</dcterms:created>
  <dcterms:modified xsi:type="dcterms:W3CDTF">2026-05-06T04:46:17Z</dcterms:modified>
</cp:coreProperties>
</file>